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8" r:id="rId2"/>
    <p:sldId id="455" r:id="rId3"/>
    <p:sldId id="477" r:id="rId4"/>
    <p:sldId id="478" r:id="rId5"/>
    <p:sldId id="492" r:id="rId6"/>
    <p:sldId id="479" r:id="rId7"/>
    <p:sldId id="493" r:id="rId8"/>
    <p:sldId id="481" r:id="rId9"/>
    <p:sldId id="483" r:id="rId10"/>
    <p:sldId id="495" r:id="rId11"/>
    <p:sldId id="476" r:id="rId12"/>
    <p:sldId id="47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2516"/>
    <a:srgbClr val="F04034"/>
    <a:srgbClr val="B878A3"/>
    <a:srgbClr val="545454"/>
    <a:srgbClr val="7F7F7F"/>
    <a:srgbClr val="D61E10"/>
    <a:srgbClr val="6D7A8B"/>
    <a:srgbClr val="FF60AF"/>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163" autoAdjust="0"/>
    <p:restoredTop sz="94660"/>
  </p:normalViewPr>
  <p:slideViewPr>
    <p:cSldViewPr snapToGrid="0">
      <p:cViewPr varScale="1">
        <p:scale>
          <a:sx n="82" d="100"/>
          <a:sy n="82" d="100"/>
        </p:scale>
        <p:origin x="75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iagrams/_rels/data2.xml.rels><?xml version="1.0" encoding="UTF-8" standalone="yes"?>
<Relationships xmlns="http://schemas.openxmlformats.org/package/2006/relationships"><Relationship Id="rId1" Type="http://schemas.openxmlformats.org/officeDocument/2006/relationships/image" Target="../media/image10.png"/></Relationships>
</file>

<file path=ppt/diagrams/colors1.xml><?xml version="1.0" encoding="utf-8"?>
<dgm:colorsDef xmlns:dgm="http://schemas.openxmlformats.org/drawingml/2006/diagram" xmlns:a="http://schemas.openxmlformats.org/drawingml/2006/main" uniqueId="urn:microsoft.com/office/officeart/2005/8/colors/accent1_2#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28">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30">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F63AB343-5A73-47E4-8646-CD6F6FB8F31C}" type="doc">
      <dgm:prSet loTypeId="urn:microsoft.com/office/officeart/2005/8/layout/default#21" loCatId="list" qsTypeId="urn:microsoft.com/office/officeart/2005/8/quickstyle/simple1#21" qsCatId="simple" csTypeId="urn:microsoft.com/office/officeart/2005/8/colors/accent1_2#21" csCatId="accent1" phldr="1"/>
      <dgm:spPr/>
      <dgm:t>
        <a:bodyPr/>
        <a:lstStyle/>
        <a:p>
          <a:endParaRPr lang="en-IN"/>
        </a:p>
      </dgm:t>
    </dgm:pt>
    <dgm:pt modelId="{734F4134-E1D5-43D5-B528-B54D97585CBB}">
      <dgm:prSet phldrT="[Text]" phldr="0" custT="1"/>
      <dgm:spPr>
        <a:solidFill>
          <a:srgbClr val="EE2516"/>
        </a:solidFill>
      </dgm:spPr>
      <dgm:t>
        <a:bodyPr vert="horz" wrap="square"/>
        <a:lstStyle/>
        <a:p>
          <a:pPr algn="l">
            <a:lnSpc>
              <a:spcPct val="100000"/>
            </a:lnSpc>
            <a:spcBef>
              <a:spcPct val="0"/>
            </a:spcBef>
            <a:spcAft>
              <a:spcPct val="35000"/>
            </a:spcAft>
          </a:pPr>
          <a:r>
            <a:rPr lang="en-US" altLang="en-US" sz="2400" b="1" dirty="0">
              <a:solidFill>
                <a:schemeClr val="bg1"/>
              </a:solidFill>
              <a:latin typeface="Montserrat" panose="00000500000000000000" pitchFamily="2" charset="0"/>
            </a:rPr>
            <a:t>Who we are: </a:t>
          </a:r>
        </a:p>
        <a:p>
          <a:pPr algn="l">
            <a:lnSpc>
              <a:spcPct val="100000"/>
            </a:lnSpc>
            <a:spcBef>
              <a:spcPct val="0"/>
            </a:spcBef>
            <a:spcAft>
              <a:spcPct val="35000"/>
            </a:spcAft>
          </a:pPr>
          <a:r>
            <a:rPr lang="en-US" altLang="en-US" sz="1800" dirty="0">
              <a:solidFill>
                <a:schemeClr val="bg1"/>
              </a:solidFill>
              <a:latin typeface="Montserrat" panose="00000500000000000000" pitchFamily="2" charset="0"/>
            </a:rPr>
            <a:t>We are a team dedicated to make a Piezoelectric Floor Tile Energy Harvester that converts everyday human movement into useful electrical energy. Our mission is to utilize the mechanical energy generated from footsteps in crowded public spaces and transform it into a clean and sustainable power source. By focusing on simplicity, affordability, and practical implementation, we aim to reduce energy wastage and support smart, eco-friendly infrastructure solutions.</a:t>
          </a:r>
        </a:p>
      </dgm:t>
    </dgm:pt>
    <dgm:pt modelId="{EFEEB090-9026-4FC6-95E9-04981C53B35E}" type="parTrans" cxnId="{A9F79F04-56CE-4C45-AFB3-029706C80A58}">
      <dgm:prSet/>
      <dgm:spPr/>
      <dgm:t>
        <a:bodyPr/>
        <a:lstStyle/>
        <a:p>
          <a:endParaRPr lang="en-IN">
            <a:latin typeface="Montserrat" panose="00000500000000000000" pitchFamily="2" charset="0"/>
          </a:endParaRPr>
        </a:p>
      </dgm:t>
    </dgm:pt>
    <dgm:pt modelId="{08E6E445-881C-4479-85D7-BE7945FAC530}" type="sibTrans" cxnId="{A9F79F04-56CE-4C45-AFB3-029706C80A58}">
      <dgm:prSet/>
      <dgm:spPr/>
      <dgm:t>
        <a:bodyPr/>
        <a:lstStyle/>
        <a:p>
          <a:endParaRPr lang="en-IN">
            <a:latin typeface="Montserrat" panose="00000500000000000000" pitchFamily="2" charset="0"/>
          </a:endParaRPr>
        </a:p>
      </dgm:t>
    </dgm:pt>
    <dgm:pt modelId="{4BC6EFDF-A91D-4DDE-B436-D0306CA8FB22}" type="pres">
      <dgm:prSet presAssocID="{F63AB343-5A73-47E4-8646-CD6F6FB8F31C}" presName="diagram" presStyleCnt="0">
        <dgm:presLayoutVars>
          <dgm:dir/>
          <dgm:resizeHandles val="exact"/>
        </dgm:presLayoutVars>
      </dgm:prSet>
      <dgm:spPr/>
    </dgm:pt>
    <dgm:pt modelId="{C7D0697F-16F4-44E2-AFF3-63CF0A714EEB}" type="pres">
      <dgm:prSet presAssocID="{734F4134-E1D5-43D5-B528-B54D97585CBB}" presName="node" presStyleLbl="node1" presStyleIdx="0" presStyleCnt="1" custScaleX="51535" custScaleY="65980" custLinFactNeighborX="-25767" custLinFactNeighborY="-1683">
        <dgm:presLayoutVars>
          <dgm:bulletEnabled val="1"/>
        </dgm:presLayoutVars>
      </dgm:prSet>
      <dgm:spPr/>
    </dgm:pt>
  </dgm:ptLst>
  <dgm:cxnLst>
    <dgm:cxn modelId="{A9F79F04-56CE-4C45-AFB3-029706C80A58}" srcId="{F63AB343-5A73-47E4-8646-CD6F6FB8F31C}" destId="{734F4134-E1D5-43D5-B528-B54D97585CBB}" srcOrd="0" destOrd="0" parTransId="{EFEEB090-9026-4FC6-95E9-04981C53B35E}" sibTransId="{08E6E445-881C-4479-85D7-BE7945FAC530}"/>
    <dgm:cxn modelId="{A855C8B1-CA95-47C8-B93B-EFEC1D4A2A42}" type="presOf" srcId="{F63AB343-5A73-47E4-8646-CD6F6FB8F31C}" destId="{4BC6EFDF-A91D-4DDE-B436-D0306CA8FB22}" srcOrd="0" destOrd="0" presId="urn:microsoft.com/office/officeart/2005/8/layout/default#21"/>
    <dgm:cxn modelId="{63149DF4-934E-4A0F-AD61-706682D882C3}" type="presOf" srcId="{734F4134-E1D5-43D5-B528-B54D97585CBB}" destId="{C7D0697F-16F4-44E2-AFF3-63CF0A714EEB}" srcOrd="0" destOrd="0" presId="urn:microsoft.com/office/officeart/2005/8/layout/default#21"/>
    <dgm:cxn modelId="{1C8D9304-4C6D-4E65-9BF8-72BC9B4206C5}" type="presParOf" srcId="{4BC6EFDF-A91D-4DDE-B436-D0306CA8FB22}" destId="{C7D0697F-16F4-44E2-AFF3-63CF0A714EEB}" srcOrd="0" destOrd="0" presId="urn:microsoft.com/office/officeart/2005/8/layout/default#2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63AB343-5A73-47E4-8646-CD6F6FB8F31C}" type="doc">
      <dgm:prSet loTypeId="urn:microsoft.com/office/officeart/2005/8/layout/default#28" loCatId="list" qsTypeId="urn:microsoft.com/office/officeart/2005/8/quickstyle/simple1#28" qsCatId="simple" csTypeId="urn:microsoft.com/office/officeart/2005/8/colors/accent1_2#28" csCatId="accent1" phldr="1"/>
      <dgm:spPr/>
      <dgm:t>
        <a:bodyPr/>
        <a:lstStyle/>
        <a:p>
          <a:endParaRPr lang="en-IN"/>
        </a:p>
      </dgm:t>
    </dgm:pt>
    <dgm:pt modelId="{4BC6EFDF-A91D-4DDE-B436-D0306CA8FB22}" type="pres">
      <dgm:prSet presAssocID="{F63AB343-5A73-47E4-8646-CD6F6FB8F31C}" presName="diagram" presStyleCnt="0">
        <dgm:presLayoutVars>
          <dgm:dir/>
          <dgm:resizeHandles val="exact"/>
        </dgm:presLayoutVars>
      </dgm:prSet>
      <dgm:spPr/>
    </dgm:pt>
  </dgm:ptLst>
  <dgm:cxnLst>
    <dgm:cxn modelId="{77EF6D1D-FD7A-47D8-BDE6-522163C31357}" type="presOf" srcId="{F63AB343-5A73-47E4-8646-CD6F6FB8F31C}" destId="{4BC6EFDF-A91D-4DDE-B436-D0306CA8FB22}" srcOrd="0" destOrd="0" presId="urn:microsoft.com/office/officeart/2005/8/layout/default#28"/>
  </dgm:cxnLst>
  <dgm:bg>
    <a:blipFill>
      <a:blip xmlns:r="http://schemas.openxmlformats.org/officeDocument/2006/relationships" r:embed="rId1"/>
      <a:stretch>
        <a:fillRect/>
      </a:stretch>
    </a:blip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63AB343-5A73-47E4-8646-CD6F6FB8F31C}" type="doc">
      <dgm:prSet loTypeId="urn:microsoft.com/office/officeart/2005/8/layout/default#30" loCatId="list" qsTypeId="urn:microsoft.com/office/officeart/2005/8/quickstyle/simple1#30" qsCatId="simple" csTypeId="urn:microsoft.com/office/officeart/2005/8/colors/accent1_2#30" csCatId="accent1" phldr="1"/>
      <dgm:spPr/>
      <dgm:t>
        <a:bodyPr/>
        <a:lstStyle/>
        <a:p>
          <a:endParaRPr lang="en-IN"/>
        </a:p>
      </dgm:t>
    </dgm:pt>
    <dgm:pt modelId="{4BC6EFDF-A91D-4DDE-B436-D0306CA8FB22}" type="pres">
      <dgm:prSet presAssocID="{F63AB343-5A73-47E4-8646-CD6F6FB8F31C}" presName="diagram" presStyleCnt="0">
        <dgm:presLayoutVars>
          <dgm:dir/>
          <dgm:resizeHandles val="exact"/>
        </dgm:presLayoutVars>
      </dgm:prSet>
      <dgm:spPr/>
    </dgm:pt>
  </dgm:ptLst>
  <dgm:cxnLst>
    <dgm:cxn modelId="{77EF6D1D-FD7A-47D8-BDE6-522163C31357}" type="presOf" srcId="{F63AB343-5A73-47E4-8646-CD6F6FB8F31C}" destId="{4BC6EFDF-A91D-4DDE-B436-D0306CA8FB22}" srcOrd="0" destOrd="0" presId="urn:microsoft.com/office/officeart/2005/8/layout/default#30"/>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D0697F-16F4-44E2-AFF3-63CF0A714EEB}">
      <dsp:nvSpPr>
        <dsp:cNvPr id="0" name=""/>
        <dsp:cNvSpPr/>
      </dsp:nvSpPr>
      <dsp:spPr bwMode="white">
        <a:xfrm>
          <a:off x="0" y="198805"/>
          <a:ext cx="5819876" cy="4470695"/>
        </a:xfrm>
        <a:prstGeom prst="rect">
          <a:avLst/>
        </a:prstGeom>
        <a:solidFill>
          <a:srgbClr val="EE251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100000"/>
            </a:lnSpc>
            <a:spcBef>
              <a:spcPct val="0"/>
            </a:spcBef>
            <a:spcAft>
              <a:spcPct val="35000"/>
            </a:spcAft>
            <a:buNone/>
          </a:pPr>
          <a:r>
            <a:rPr lang="en-US" altLang="en-US" sz="2400" b="1" kern="1200" dirty="0">
              <a:solidFill>
                <a:schemeClr val="bg1"/>
              </a:solidFill>
              <a:latin typeface="Montserrat" panose="00000500000000000000" pitchFamily="2" charset="0"/>
            </a:rPr>
            <a:t>Who we are: </a:t>
          </a:r>
        </a:p>
        <a:p>
          <a:pPr marL="0" lvl="0" indent="0" algn="l" defTabSz="1066800">
            <a:lnSpc>
              <a:spcPct val="100000"/>
            </a:lnSpc>
            <a:spcBef>
              <a:spcPct val="0"/>
            </a:spcBef>
            <a:spcAft>
              <a:spcPct val="35000"/>
            </a:spcAft>
            <a:buNone/>
          </a:pPr>
          <a:r>
            <a:rPr lang="en-US" altLang="en-US" sz="1800" kern="1200" dirty="0">
              <a:solidFill>
                <a:schemeClr val="bg1"/>
              </a:solidFill>
              <a:latin typeface="Montserrat" panose="00000500000000000000" pitchFamily="2" charset="0"/>
            </a:rPr>
            <a:t>We are a team dedicated to make a Piezoelectric Floor Tile Energy Harvester that converts everyday human movement into useful electrical energy. Our mission is to utilize the mechanical energy generated from footsteps in crowded public spaces and transform it into a clean and sustainable power source. By focusing on simplicity, affordability, and practical implementation, we aim to reduce energy wastage and support smart, eco-friendly infrastructure solutions.</a:t>
          </a:r>
        </a:p>
      </dsp:txBody>
      <dsp:txXfrm>
        <a:off x="0" y="198805"/>
        <a:ext cx="5819876" cy="447069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default#21">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off" val="ctr"/>
          <dgm:param type="contDir" val="sameDir"/>
          <dgm:param type="grDir" val="tL"/>
          <dgm:param type="flowDir" val="row"/>
        </dgm:alg>
      </dgm:if>
      <dgm:else name="Name2">
        <dgm:alg type="snake">
          <dgm:param type="off" val="ctr"/>
          <dgm:param type="contDir" val="sameDir"/>
          <dgm:param type="grDir" val="tR"/>
          <dgm:param type="flowDir" val="row"/>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28">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off" val="ctr"/>
          <dgm:param type="contDir" val="sameDir"/>
          <dgm:param type="grDir" val="tL"/>
          <dgm:param type="flowDir" val="row"/>
        </dgm:alg>
      </dgm:if>
      <dgm:else name="Name2">
        <dgm:alg type="snake">
          <dgm:param type="off" val="ctr"/>
          <dgm:param type="contDir" val="sameDir"/>
          <dgm:param type="grDir" val="tR"/>
          <dgm:param type="flowDir" val="row"/>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30">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off" val="ctr"/>
          <dgm:param type="contDir" val="sameDir"/>
          <dgm:param type="grDir" val="tL"/>
          <dgm:param type="flowDir" val="row"/>
        </dgm:alg>
      </dgm:if>
      <dgm:else name="Name2">
        <dgm:alg type="snake">
          <dgm:param type="off" val="ctr"/>
          <dgm:param type="contDir" val="sameDir"/>
          <dgm:param type="grDir" val="tR"/>
          <dgm:param type="flowDir" val="row"/>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2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8">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30">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0DEBC1-D45A-4584-BEC9-4C32FB35D207}" type="datetimeFigureOut">
              <a:rPr lang="en-US" smtClean="0"/>
              <a:t>1/25/2026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B8F7D2-DBF7-47B1-8A95-599CF99D4995}"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F8238293-15E9-4597-B06C-F2C0D255F3E0}" type="datetimeFigureOut">
              <a:rPr lang="en-US" smtClean="0"/>
              <a:t>1/25/2026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A27B3D-94C1-42BD-9166-C84153AC14D4}"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8238293-15E9-4597-B06C-F2C0D255F3E0}" type="datetimeFigureOut">
              <a:rPr lang="en-US" smtClean="0"/>
              <a:t>1/25/2026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A27B3D-94C1-42BD-9166-C84153AC14D4}"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8238293-15E9-4597-B06C-F2C0D255F3E0}" type="datetimeFigureOut">
              <a:rPr lang="en-US" smtClean="0"/>
              <a:t>1/25/2026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A27B3D-94C1-42BD-9166-C84153AC14D4}"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8238293-15E9-4597-B06C-F2C0D255F3E0}" type="datetimeFigureOut">
              <a:rPr lang="en-US" smtClean="0"/>
              <a:t>1/25/2026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6A27B3D-94C1-42BD-9166-C84153AC14D4}"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8238293-15E9-4597-B06C-F2C0D255F3E0}" type="datetimeFigureOut">
              <a:rPr lang="en-US" smtClean="0"/>
              <a:t>1/25/2026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6A27B3D-94C1-42BD-9166-C84153AC14D4}"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8238293-15E9-4597-B06C-F2C0D255F3E0}" type="datetimeFigureOut">
              <a:rPr lang="en-US" smtClean="0"/>
              <a:t>1/25/2026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6A27B3D-94C1-42BD-9166-C84153AC14D4}"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238293-15E9-4597-B06C-F2C0D255F3E0}" type="datetimeFigureOut">
              <a:rPr lang="en-US" smtClean="0"/>
              <a:t>1/25/2026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6A27B3D-94C1-42BD-9166-C84153AC14D4}"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8238293-15E9-4597-B06C-F2C0D255F3E0}" type="datetimeFigureOut">
              <a:rPr lang="en-US" smtClean="0"/>
              <a:t>1/25/2026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6A27B3D-94C1-42BD-9166-C84153AC14D4}"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8238293-15E9-4597-B06C-F2C0D255F3E0}" type="datetimeFigureOut">
              <a:rPr lang="en-US" smtClean="0"/>
              <a:t>1/25/2026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6A27B3D-94C1-42BD-9166-C84153AC14D4}"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8238293-15E9-4597-B06C-F2C0D255F3E0}" type="datetimeFigureOut">
              <a:rPr lang="en-US" smtClean="0"/>
              <a:t>1/25/2026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A27B3D-94C1-42BD-9166-C84153AC14D4}"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8238293-15E9-4597-B06C-F2C0D255F3E0}" type="datetimeFigureOut">
              <a:rPr lang="en-US" smtClean="0"/>
              <a:t>1/25/2026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A27B3D-94C1-42BD-9166-C84153AC14D4}"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rcRect b="28000"/>
          <a:stretch>
            <a:fillRect/>
          </a:stretch>
        </p:blipFill>
        <p:spPr>
          <a:xfrm>
            <a:off x="0" y="1"/>
            <a:ext cx="12192000" cy="4937759"/>
          </a:xfrm>
          <a:custGeom>
            <a:avLst/>
            <a:gdLst>
              <a:gd name="connsiteX0" fmla="*/ 0 w 12192000"/>
              <a:gd name="connsiteY0" fmla="*/ 0 h 4937759"/>
              <a:gd name="connsiteX1" fmla="*/ 12192000 w 12192000"/>
              <a:gd name="connsiteY1" fmla="*/ 0 h 4937759"/>
              <a:gd name="connsiteX2" fmla="*/ 12192000 w 12192000"/>
              <a:gd name="connsiteY2" fmla="*/ 4937759 h 4937759"/>
              <a:gd name="connsiteX3" fmla="*/ 0 w 12192000"/>
              <a:gd name="connsiteY3" fmla="*/ 4937759 h 4937759"/>
            </a:gdLst>
            <a:ahLst/>
            <a:cxnLst>
              <a:cxn ang="0">
                <a:pos x="connsiteX0" y="connsiteY0"/>
              </a:cxn>
              <a:cxn ang="0">
                <a:pos x="connsiteX1" y="connsiteY1"/>
              </a:cxn>
              <a:cxn ang="0">
                <a:pos x="connsiteX2" y="connsiteY2"/>
              </a:cxn>
              <a:cxn ang="0">
                <a:pos x="connsiteX3" y="connsiteY3"/>
              </a:cxn>
            </a:cxnLst>
            <a:rect l="l" t="t" r="r" b="b"/>
            <a:pathLst>
              <a:path w="12192000" h="4937759">
                <a:moveTo>
                  <a:pt x="0" y="0"/>
                </a:moveTo>
                <a:lnTo>
                  <a:pt x="12192000" y="0"/>
                </a:lnTo>
                <a:lnTo>
                  <a:pt x="12192000" y="4937759"/>
                </a:lnTo>
                <a:lnTo>
                  <a:pt x="0" y="4937759"/>
                </a:lnTo>
                <a:close/>
              </a:path>
            </a:pathLst>
          </a:cu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9_Blank">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Left_Blank">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rcRect l="5667" t="16155" r="46167" b="14753"/>
          <a:stretch>
            <a:fillRect/>
          </a:stretch>
        </p:blipFill>
        <p:spPr>
          <a:xfrm>
            <a:off x="690880" y="1107905"/>
            <a:ext cx="5872480" cy="4738300"/>
          </a:xfrm>
          <a:custGeom>
            <a:avLst/>
            <a:gdLst>
              <a:gd name="connsiteX0" fmla="*/ 4174488 w 5872480"/>
              <a:gd name="connsiteY0" fmla="*/ 1655999 h 4738300"/>
              <a:gd name="connsiteX1" fmla="*/ 5049498 w 5872480"/>
              <a:gd name="connsiteY1" fmla="*/ 1655999 h 4738300"/>
              <a:gd name="connsiteX2" fmla="*/ 4611993 w 5872480"/>
              <a:gd name="connsiteY2" fmla="*/ 2410318 h 4738300"/>
              <a:gd name="connsiteX3" fmla="*/ 4611993 w 5872480"/>
              <a:gd name="connsiteY3" fmla="*/ 825866 h 4738300"/>
              <a:gd name="connsiteX4" fmla="*/ 5049498 w 5872480"/>
              <a:gd name="connsiteY4" fmla="*/ 1580184 h 4738300"/>
              <a:gd name="connsiteX5" fmla="*/ 4174488 w 5872480"/>
              <a:gd name="connsiteY5" fmla="*/ 1580184 h 4738300"/>
              <a:gd name="connsiteX6" fmla="*/ 1759292 w 5872480"/>
              <a:gd name="connsiteY6" fmla="*/ 687469 h 4738300"/>
              <a:gd name="connsiteX7" fmla="*/ 3231335 w 5872480"/>
              <a:gd name="connsiteY7" fmla="*/ 3225474 h 4738300"/>
              <a:gd name="connsiteX8" fmla="*/ 4113188 w 5872480"/>
              <a:gd name="connsiteY8" fmla="*/ 1705039 h 4738300"/>
              <a:gd name="connsiteX9" fmla="*/ 5872480 w 5872480"/>
              <a:gd name="connsiteY9" fmla="*/ 4738300 h 4738300"/>
              <a:gd name="connsiteX10" fmla="*/ 2353896 w 5872480"/>
              <a:gd name="connsiteY10" fmla="*/ 4738300 h 4738300"/>
              <a:gd name="connsiteX11" fmla="*/ 2944086 w 5872480"/>
              <a:gd name="connsiteY11" fmla="*/ 3720731 h 4738300"/>
              <a:gd name="connsiteX12" fmla="*/ 0 w 5872480"/>
              <a:gd name="connsiteY12" fmla="*/ 3720731 h 4738300"/>
              <a:gd name="connsiteX13" fmla="*/ 1469615 w 5872480"/>
              <a:gd name="connsiteY13" fmla="*/ 0 h 4738300"/>
              <a:gd name="connsiteX14" fmla="*/ 4988199 w 5872480"/>
              <a:gd name="connsiteY14" fmla="*/ 0 h 4738300"/>
              <a:gd name="connsiteX15" fmla="*/ 3228907 w 5872480"/>
              <a:gd name="connsiteY15" fmla="*/ 3033262 h 473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872480" h="4738300">
                <a:moveTo>
                  <a:pt x="4174488" y="1655999"/>
                </a:moveTo>
                <a:lnTo>
                  <a:pt x="5049498" y="1655999"/>
                </a:lnTo>
                <a:lnTo>
                  <a:pt x="4611993" y="2410318"/>
                </a:lnTo>
                <a:close/>
                <a:moveTo>
                  <a:pt x="4611993" y="825866"/>
                </a:moveTo>
                <a:lnTo>
                  <a:pt x="5049498" y="1580184"/>
                </a:lnTo>
                <a:lnTo>
                  <a:pt x="4174488" y="1580184"/>
                </a:lnTo>
                <a:close/>
                <a:moveTo>
                  <a:pt x="1759292" y="687469"/>
                </a:moveTo>
                <a:lnTo>
                  <a:pt x="3231335" y="3225474"/>
                </a:lnTo>
                <a:lnTo>
                  <a:pt x="4113188" y="1705039"/>
                </a:lnTo>
                <a:lnTo>
                  <a:pt x="5872480" y="4738300"/>
                </a:lnTo>
                <a:lnTo>
                  <a:pt x="2353896" y="4738300"/>
                </a:lnTo>
                <a:lnTo>
                  <a:pt x="2944086" y="3720731"/>
                </a:lnTo>
                <a:lnTo>
                  <a:pt x="0" y="3720731"/>
                </a:lnTo>
                <a:close/>
                <a:moveTo>
                  <a:pt x="1469615" y="0"/>
                </a:moveTo>
                <a:lnTo>
                  <a:pt x="4988199" y="0"/>
                </a:lnTo>
                <a:lnTo>
                  <a:pt x="3228907" y="3033262"/>
                </a:lnTo>
                <a:close/>
              </a:path>
            </a:pathLst>
          </a:cu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rcRect l="53250" t="5241" r="3417" b="5241"/>
          <a:stretch>
            <a:fillRect/>
          </a:stretch>
        </p:blipFill>
        <p:spPr>
          <a:xfrm>
            <a:off x="6492239" y="359410"/>
            <a:ext cx="5283200" cy="6139180"/>
          </a:xfrm>
          <a:custGeom>
            <a:avLst/>
            <a:gdLst>
              <a:gd name="connsiteX0" fmla="*/ 1334703 w 5283200"/>
              <a:gd name="connsiteY0" fmla="*/ 3802380 h 6139180"/>
              <a:gd name="connsiteX1" fmla="*/ 2613794 w 5283200"/>
              <a:gd name="connsiteY1" fmla="*/ 3802380 h 6139180"/>
              <a:gd name="connsiteX2" fmla="*/ 2613794 w 5283200"/>
              <a:gd name="connsiteY2" fmla="*/ 6139180 h 6139180"/>
              <a:gd name="connsiteX3" fmla="*/ 1334703 w 5283200"/>
              <a:gd name="connsiteY3" fmla="*/ 6139180 h 6139180"/>
              <a:gd name="connsiteX4" fmla="*/ 4004109 w 5283200"/>
              <a:gd name="connsiteY4" fmla="*/ 2413000 h 6139180"/>
              <a:gd name="connsiteX5" fmla="*/ 5283200 w 5283200"/>
              <a:gd name="connsiteY5" fmla="*/ 2413000 h 6139180"/>
              <a:gd name="connsiteX6" fmla="*/ 5283200 w 5283200"/>
              <a:gd name="connsiteY6" fmla="*/ 4749800 h 6139180"/>
              <a:gd name="connsiteX7" fmla="*/ 4004109 w 5283200"/>
              <a:gd name="connsiteY7" fmla="*/ 4749800 h 6139180"/>
              <a:gd name="connsiteX8" fmla="*/ 0 w 5283200"/>
              <a:gd name="connsiteY8" fmla="*/ 1022350 h 6139180"/>
              <a:gd name="connsiteX9" fmla="*/ 1279091 w 5283200"/>
              <a:gd name="connsiteY9" fmla="*/ 1022350 h 6139180"/>
              <a:gd name="connsiteX10" fmla="*/ 1279091 w 5283200"/>
              <a:gd name="connsiteY10" fmla="*/ 4768850 h 6139180"/>
              <a:gd name="connsiteX11" fmla="*/ 0 w 5283200"/>
              <a:gd name="connsiteY11" fmla="*/ 4768850 h 6139180"/>
              <a:gd name="connsiteX12" fmla="*/ 2669406 w 5283200"/>
              <a:gd name="connsiteY12" fmla="*/ 1003301 h 6139180"/>
              <a:gd name="connsiteX13" fmla="*/ 3948497 w 5283200"/>
              <a:gd name="connsiteY13" fmla="*/ 1003301 h 6139180"/>
              <a:gd name="connsiteX14" fmla="*/ 3948497 w 5283200"/>
              <a:gd name="connsiteY14" fmla="*/ 5435600 h 6139180"/>
              <a:gd name="connsiteX15" fmla="*/ 2669406 w 5283200"/>
              <a:gd name="connsiteY15" fmla="*/ 5435600 h 6139180"/>
              <a:gd name="connsiteX16" fmla="*/ 1334703 w 5283200"/>
              <a:gd name="connsiteY16" fmla="*/ 0 h 6139180"/>
              <a:gd name="connsiteX17" fmla="*/ 2613794 w 5283200"/>
              <a:gd name="connsiteY17" fmla="*/ 0 h 6139180"/>
              <a:gd name="connsiteX18" fmla="*/ 2613794 w 5283200"/>
              <a:gd name="connsiteY18" fmla="*/ 3746500 h 6139180"/>
              <a:gd name="connsiteX19" fmla="*/ 1334703 w 5283200"/>
              <a:gd name="connsiteY19" fmla="*/ 3746500 h 613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283200" h="6139180">
                <a:moveTo>
                  <a:pt x="1334703" y="3802380"/>
                </a:moveTo>
                <a:lnTo>
                  <a:pt x="2613794" y="3802380"/>
                </a:lnTo>
                <a:lnTo>
                  <a:pt x="2613794" y="6139180"/>
                </a:lnTo>
                <a:lnTo>
                  <a:pt x="1334703" y="6139180"/>
                </a:lnTo>
                <a:close/>
                <a:moveTo>
                  <a:pt x="4004109" y="2413000"/>
                </a:moveTo>
                <a:lnTo>
                  <a:pt x="5283200" y="2413000"/>
                </a:lnTo>
                <a:lnTo>
                  <a:pt x="5283200" y="4749800"/>
                </a:lnTo>
                <a:lnTo>
                  <a:pt x="4004109" y="4749800"/>
                </a:lnTo>
                <a:close/>
                <a:moveTo>
                  <a:pt x="0" y="1022350"/>
                </a:moveTo>
                <a:lnTo>
                  <a:pt x="1279091" y="1022350"/>
                </a:lnTo>
                <a:lnTo>
                  <a:pt x="1279091" y="4768850"/>
                </a:lnTo>
                <a:lnTo>
                  <a:pt x="0" y="4768850"/>
                </a:lnTo>
                <a:close/>
                <a:moveTo>
                  <a:pt x="2669406" y="1003301"/>
                </a:moveTo>
                <a:lnTo>
                  <a:pt x="3948497" y="1003301"/>
                </a:lnTo>
                <a:lnTo>
                  <a:pt x="3948497" y="5435600"/>
                </a:lnTo>
                <a:lnTo>
                  <a:pt x="2669406" y="5435600"/>
                </a:lnTo>
                <a:close/>
                <a:moveTo>
                  <a:pt x="1334703" y="0"/>
                </a:moveTo>
                <a:lnTo>
                  <a:pt x="2613794" y="0"/>
                </a:lnTo>
                <a:lnTo>
                  <a:pt x="2613794" y="3746500"/>
                </a:lnTo>
                <a:lnTo>
                  <a:pt x="1334703" y="3746500"/>
                </a:lnTo>
                <a:close/>
              </a:path>
            </a:pathLst>
          </a:cu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238293-15E9-4597-B06C-F2C0D255F3E0}" type="datetimeFigureOut">
              <a:rPr lang="en-US" smtClean="0"/>
              <a:t>1/25/2026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A27B3D-94C1-42BD-9166-C84153AC14D4}"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3.jpeg"/><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hyperlink" Target="https://youtu.be/YZ4OBxyyqOg?si=bcKz9o7-9FmDvqPp" TargetMode="External"/><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hyperlink" Target="https://drive.google.com/file/d/11yjVr5r_Jtw9HyfuuD8DnmPXptCE4yhQ/view?usp=drivesdk" TargetMode="External"/><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40000" contrast="20000"/>
                    </a14:imgEffect>
                    <a14:imgEffect>
                      <a14:colorTemperature colorTemp="8800"/>
                    </a14:imgEffect>
                    <a14:imgEffect>
                      <a14:saturation sat="0"/>
                    </a14:imgEffect>
                  </a14:imgLayer>
                </a14:imgProps>
              </a:ext>
              <a:ext uri="{28A0092B-C50C-407E-A947-70E740481C1C}">
                <a14:useLocalDpi xmlns:a14="http://schemas.microsoft.com/office/drawing/2010/main" val="0"/>
              </a:ext>
            </a:extLst>
          </a:blip>
          <a:srcRect b="27881"/>
          <a:stretch>
            <a:fillRect/>
          </a:stretch>
        </p:blipFill>
        <p:spPr>
          <a:xfrm>
            <a:off x="0" y="0"/>
            <a:ext cx="12192000" cy="4937760"/>
          </a:xfrm>
          <a:prstGeom prst="rect">
            <a:avLst/>
          </a:prstGeom>
          <a:solidFill>
            <a:schemeClr val="bg1"/>
          </a:solidFill>
          <a:effectLst>
            <a:outerShdw blurRad="50800" dist="50800" dir="5400000" algn="ctr" rotWithShape="0">
              <a:srgbClr val="000000"/>
            </a:outerShdw>
          </a:effectLst>
        </p:spPr>
      </p:pic>
      <p:sp>
        <p:nvSpPr>
          <p:cNvPr id="29" name="Rectangle 28"/>
          <p:cNvSpPr/>
          <p:nvPr/>
        </p:nvSpPr>
        <p:spPr>
          <a:xfrm>
            <a:off x="0" y="0"/>
            <a:ext cx="12192000" cy="4937760"/>
          </a:xfrm>
          <a:prstGeom prst="rect">
            <a:avLst/>
          </a:prstGeom>
          <a:solidFill>
            <a:schemeClr val="tx1">
              <a:lumMod val="85000"/>
              <a:lumOff val="15000"/>
              <a:alpha val="6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619993" y="3885971"/>
            <a:ext cx="10952013" cy="2026288"/>
          </a:xfrm>
          <a:prstGeom prst="roundRect">
            <a:avLst>
              <a:gd name="adj" fmla="val 50000"/>
            </a:avLst>
          </a:prstGeom>
          <a:solidFill>
            <a:srgbClr val="F04034"/>
          </a:solidFill>
          <a:ln>
            <a:noFill/>
          </a:ln>
          <a:effectLst>
            <a:outerShdw blurRad="889000" dist="368300" dir="8400000" sx="102000" sy="102000" algn="ctr" rotWithShape="0">
              <a:prstClr val="black">
                <a:alpha val="6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5400" b="1" dirty="0">
                <a:solidFill>
                  <a:schemeClr val="bg1"/>
                </a:solidFill>
                <a:latin typeface="Montserrat" panose="00000500000000000000" pitchFamily="2" charset="0"/>
              </a:rPr>
              <a:t>Team Name:</a:t>
            </a:r>
            <a:r>
              <a:rPr lang="en-US" altLang="en-IN" sz="5400" b="1" dirty="0">
                <a:solidFill>
                  <a:schemeClr val="bg1"/>
                </a:solidFill>
                <a:latin typeface="Montserrat" panose="00000500000000000000" pitchFamily="2" charset="0"/>
              </a:rPr>
              <a:t> </a:t>
            </a:r>
            <a:r>
              <a:rPr lang="en-US" altLang="en-US" sz="5400" b="1" dirty="0">
                <a:solidFill>
                  <a:schemeClr val="bg1"/>
                </a:solidFill>
                <a:latin typeface="Montserrat" panose="00000500000000000000" pitchFamily="2" charset="0"/>
              </a:rPr>
              <a:t>GreenStep</a:t>
            </a:r>
          </a:p>
        </p:txBody>
      </p:sp>
      <p:sp>
        <p:nvSpPr>
          <p:cNvPr id="28" name="TextBox 27"/>
          <p:cNvSpPr txBox="1"/>
          <p:nvPr/>
        </p:nvSpPr>
        <p:spPr>
          <a:xfrm>
            <a:off x="662034" y="694404"/>
            <a:ext cx="10952013" cy="1322070"/>
          </a:xfrm>
          <a:prstGeom prst="rect">
            <a:avLst/>
          </a:prstGeom>
          <a:noFill/>
        </p:spPr>
        <p:txBody>
          <a:bodyPr wrap="square" rtlCol="0">
            <a:spAutoFit/>
          </a:bodyPr>
          <a:lstStyle/>
          <a:p>
            <a:pPr algn="ctr"/>
            <a:r>
              <a:rPr lang="en-US" altLang="en-US" sz="4000" b="1" dirty="0">
                <a:gradFill>
                  <a:gsLst>
                    <a:gs pos="0">
                      <a:schemeClr val="accent1"/>
                    </a:gs>
                    <a:gs pos="100000">
                      <a:schemeClr val="accent4"/>
                    </a:gs>
                  </a:gsLst>
                  <a:lin ang="2700000" scaled="1"/>
                </a:gradFill>
                <a:latin typeface="Montserrat" panose="00000500000000000000" pitchFamily="2" charset="0"/>
              </a:rPr>
              <a:t>Green Energy from Human Motion: </a:t>
            </a:r>
          </a:p>
          <a:p>
            <a:pPr algn="ctr"/>
            <a:r>
              <a:rPr lang="en-US" altLang="en-US" sz="4000" b="1" dirty="0">
                <a:gradFill>
                  <a:gsLst>
                    <a:gs pos="0">
                      <a:schemeClr val="accent1"/>
                    </a:gs>
                    <a:gs pos="100000">
                      <a:schemeClr val="accent4"/>
                    </a:gs>
                  </a:gsLst>
                  <a:lin ang="2700000" scaled="1"/>
                </a:gradFill>
                <a:latin typeface="Montserrat" panose="00000500000000000000" pitchFamily="2" charset="0"/>
              </a:rPr>
              <a:t>A Piezoelectric Solution for </a:t>
            </a:r>
            <a:r>
              <a:rPr lang="en-US" altLang="en-US" sz="4000" b="1" dirty="0" err="1">
                <a:gradFill>
                  <a:gsLst>
                    <a:gs pos="0">
                      <a:schemeClr val="accent1"/>
                    </a:gs>
                    <a:gs pos="100000">
                      <a:schemeClr val="accent4"/>
                    </a:gs>
                  </a:gsLst>
                  <a:lin ang="2700000" scaled="1"/>
                </a:gradFill>
                <a:latin typeface="Montserrat" panose="00000500000000000000" pitchFamily="2" charset="0"/>
              </a:rPr>
              <a:t>Vikasit</a:t>
            </a:r>
            <a:r>
              <a:rPr lang="en-US" altLang="en-US" sz="4000" b="1" dirty="0">
                <a:gradFill>
                  <a:gsLst>
                    <a:gs pos="0">
                      <a:schemeClr val="accent1"/>
                    </a:gs>
                    <a:gs pos="100000">
                      <a:schemeClr val="accent4"/>
                    </a:gs>
                  </a:gsLst>
                  <a:lin ang="2700000" scaled="1"/>
                </a:gradFill>
                <a:latin typeface="Montserrat" panose="00000500000000000000" pitchFamily="2" charset="0"/>
              </a:rPr>
              <a:t> Bharat</a:t>
            </a:r>
          </a:p>
        </p:txBody>
      </p:sp>
      <p:sp>
        <p:nvSpPr>
          <p:cNvPr id="9" name="TextBox 8"/>
          <p:cNvSpPr txBox="1"/>
          <p:nvPr/>
        </p:nvSpPr>
        <p:spPr>
          <a:xfrm>
            <a:off x="5837445" y="2684566"/>
            <a:ext cx="6133838" cy="830997"/>
          </a:xfrm>
          <a:prstGeom prst="rect">
            <a:avLst/>
          </a:prstGeom>
          <a:noFill/>
        </p:spPr>
        <p:txBody>
          <a:bodyPr wrap="square" rtlCol="0">
            <a:spAutoFit/>
          </a:bodyPr>
          <a:lstStyle/>
          <a:p>
            <a:pPr algn="ctr"/>
            <a:r>
              <a:rPr lang="en-US" sz="2400" dirty="0">
                <a:gradFill>
                  <a:gsLst>
                    <a:gs pos="0">
                      <a:schemeClr val="accent1"/>
                    </a:gs>
                    <a:gs pos="100000">
                      <a:schemeClr val="accent4"/>
                    </a:gs>
                  </a:gsLst>
                  <a:lin ang="2700000" scaled="1"/>
                </a:gradFill>
                <a:latin typeface="Montserrat" panose="00000500000000000000" pitchFamily="2" charset="0"/>
              </a:rPr>
              <a:t>Theme: Renewable Energy Resources</a:t>
            </a:r>
          </a:p>
          <a:p>
            <a:pPr algn="ctr"/>
            <a:endParaRPr lang="id-ID" sz="2400" dirty="0">
              <a:gradFill>
                <a:gsLst>
                  <a:gs pos="0">
                    <a:schemeClr val="accent1"/>
                  </a:gs>
                  <a:gs pos="100000">
                    <a:schemeClr val="accent4"/>
                  </a:gs>
                </a:gsLst>
                <a:lin ang="2700000" scaled="1"/>
              </a:gradFill>
              <a:latin typeface="Montserrat" panose="00000500000000000000" pitchFamily="2"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3"/>
          <p:cNvSpPr txBox="1"/>
          <p:nvPr/>
        </p:nvSpPr>
        <p:spPr>
          <a:xfrm>
            <a:off x="-246380" y="474345"/>
            <a:ext cx="12439015" cy="583565"/>
          </a:xfrm>
          <a:prstGeom prst="rect">
            <a:avLst/>
          </a:prstGeom>
          <a:noFill/>
        </p:spPr>
        <p:txBody>
          <a:bodyPr wrap="square" rtlCol="0">
            <a:spAutoFit/>
          </a:bodyPr>
          <a:lstStyle>
            <a:defPPr>
              <a:defRPr lang="en-US"/>
            </a:defPPr>
            <a:lvl1pPr>
              <a:lnSpc>
                <a:spcPct val="80000"/>
              </a:lnSpc>
              <a:defRPr sz="6000">
                <a:solidFill>
                  <a:schemeClr val="bg1"/>
                </a:solidFill>
                <a:latin typeface="Montserrat" panose="00000500000000000000" pitchFamily="2" charset="0"/>
                <a:cs typeface="Montserrat" panose="00000500000000000000" pitchFamily="2" charset="0"/>
              </a:defRPr>
            </a:lvl1pPr>
          </a:lstStyle>
          <a:p>
            <a:pPr algn="ctr"/>
            <a:r>
              <a:rPr lang="en-IN" sz="4000" b="1" dirty="0">
                <a:solidFill>
                  <a:srgbClr val="545454"/>
                </a:solidFill>
              </a:rPr>
              <a:t>1. The Overview</a:t>
            </a:r>
            <a:r>
              <a:rPr lang="en-US" altLang="en-IN" sz="4000" b="1" dirty="0">
                <a:solidFill>
                  <a:srgbClr val="545454"/>
                </a:solidFill>
              </a:rPr>
              <a:t>: Piezoelectric Floor Tiles</a:t>
            </a:r>
          </a:p>
        </p:txBody>
      </p:sp>
      <p:graphicFrame>
        <p:nvGraphicFramePr>
          <p:cNvPr id="5" name="Diagram 4"/>
          <p:cNvGraphicFramePr/>
          <p:nvPr/>
        </p:nvGraphicFramePr>
        <p:xfrm>
          <a:off x="351453" y="1670180"/>
          <a:ext cx="11293057" cy="50963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6" name="Group 5"/>
          <p:cNvGrpSpPr/>
          <p:nvPr/>
        </p:nvGrpSpPr>
        <p:grpSpPr>
          <a:xfrm>
            <a:off x="1498085" y="1107700"/>
            <a:ext cx="10342462" cy="5275955"/>
            <a:chOff x="1498085" y="1107700"/>
            <a:chExt cx="10342462" cy="5275955"/>
          </a:xfrm>
        </p:grpSpPr>
        <p:cxnSp>
          <p:nvCxnSpPr>
            <p:cNvPr id="37" name="Straight Connector 36"/>
            <p:cNvCxnSpPr/>
            <p:nvPr/>
          </p:nvCxnSpPr>
          <p:spPr>
            <a:xfrm>
              <a:off x="5185754" y="1465049"/>
              <a:ext cx="1390650" cy="0"/>
            </a:xfrm>
            <a:prstGeom prst="line">
              <a:avLst/>
            </a:prstGeom>
            <a:ln w="254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1498085" y="5121340"/>
              <a:ext cx="904415" cy="261610"/>
            </a:xfrm>
            <a:prstGeom prst="rect">
              <a:avLst/>
            </a:prstGeom>
            <a:noFill/>
          </p:spPr>
          <p:txBody>
            <a:bodyPr wrap="none" rtlCol="0">
              <a:spAutoFit/>
            </a:bodyPr>
            <a:lstStyle/>
            <a:p>
              <a:pPr algn="ctr"/>
              <a:r>
                <a:rPr lang="en-US" sz="1100" dirty="0">
                  <a:solidFill>
                    <a:schemeClr val="bg1"/>
                  </a:solidFill>
                </a:rPr>
                <a:t>LEARN NOW</a:t>
              </a:r>
            </a:p>
          </p:txBody>
        </p:sp>
        <p:sp>
          <p:nvSpPr>
            <p:cNvPr id="23" name="TextBox 22"/>
            <p:cNvSpPr txBox="1"/>
            <p:nvPr/>
          </p:nvSpPr>
          <p:spPr>
            <a:xfrm>
              <a:off x="1711583" y="1107700"/>
              <a:ext cx="8768834" cy="398780"/>
            </a:xfrm>
            <a:prstGeom prst="rect">
              <a:avLst/>
            </a:prstGeom>
            <a:noFill/>
          </p:spPr>
          <p:txBody>
            <a:bodyPr wrap="square">
              <a:spAutoFit/>
            </a:bodyPr>
            <a:lstStyle/>
            <a:p>
              <a:pPr algn="ctr"/>
              <a:r>
                <a:rPr lang="en-US" altLang="en-US" sz="2000" b="0" i="0" dirty="0">
                  <a:solidFill>
                    <a:srgbClr val="F04034"/>
                  </a:solidFill>
                  <a:effectLst/>
                  <a:latin typeface="Montserrat" panose="00000500000000000000" pitchFamily="2" charset="0"/>
                </a:rPr>
                <a:t>Turning Every Step into Sustainable Electric Energy</a:t>
              </a:r>
            </a:p>
          </p:txBody>
        </p:sp>
        <p:pic>
          <p:nvPicPr>
            <p:cNvPr id="4" name="Picture 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394580" y="1863829"/>
              <a:ext cx="5445967" cy="4519826"/>
            </a:xfrm>
            <a:prstGeom prst="rect">
              <a:avLst/>
            </a:prstGeom>
            <a:effectLst>
              <a:softEdge rad="63500"/>
            </a:effectLst>
          </p:spPr>
        </p:pic>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oup 17"/>
          <p:cNvGrpSpPr/>
          <p:nvPr/>
        </p:nvGrpSpPr>
        <p:grpSpPr>
          <a:xfrm>
            <a:off x="752475" y="411974"/>
            <a:ext cx="11274062" cy="6195931"/>
            <a:chOff x="752475" y="411974"/>
            <a:chExt cx="11274062" cy="6195931"/>
          </a:xfrm>
        </p:grpSpPr>
        <p:sp>
          <p:nvSpPr>
            <p:cNvPr id="40" name="TextBox 39"/>
            <p:cNvSpPr txBox="1"/>
            <p:nvPr/>
          </p:nvSpPr>
          <p:spPr>
            <a:xfrm>
              <a:off x="1498085" y="5121340"/>
              <a:ext cx="904415" cy="261610"/>
            </a:xfrm>
            <a:prstGeom prst="rect">
              <a:avLst/>
            </a:prstGeom>
            <a:noFill/>
          </p:spPr>
          <p:txBody>
            <a:bodyPr wrap="none" rtlCol="0">
              <a:spAutoFit/>
            </a:bodyPr>
            <a:lstStyle/>
            <a:p>
              <a:pPr algn="ctr"/>
              <a:r>
                <a:rPr lang="en-US" sz="1100" dirty="0">
                  <a:solidFill>
                    <a:schemeClr val="bg1"/>
                  </a:solidFill>
                </a:rPr>
                <a:t>LEARN NOW</a:t>
              </a:r>
            </a:p>
          </p:txBody>
        </p:sp>
        <p:sp>
          <p:nvSpPr>
            <p:cNvPr id="22" name="Title 3"/>
            <p:cNvSpPr txBox="1"/>
            <p:nvPr/>
          </p:nvSpPr>
          <p:spPr>
            <a:xfrm>
              <a:off x="752475" y="411974"/>
              <a:ext cx="10687050" cy="638060"/>
            </a:xfrm>
            <a:prstGeom prst="rect">
              <a:avLst/>
            </a:prstGeom>
            <a:noFill/>
          </p:spPr>
          <p:txBody>
            <a:bodyPr wrap="square" rtlCol="0">
              <a:spAutoFit/>
            </a:bodyPr>
            <a:lstStyle>
              <a:defPPr>
                <a:defRPr lang="en-US"/>
              </a:defPPr>
              <a:lvl1pPr>
                <a:lnSpc>
                  <a:spcPct val="80000"/>
                </a:lnSpc>
                <a:defRPr sz="6000">
                  <a:solidFill>
                    <a:schemeClr val="bg1"/>
                  </a:solidFill>
                  <a:latin typeface="Montserrat" panose="00000500000000000000" pitchFamily="2" charset="0"/>
                  <a:cs typeface="Montserrat" panose="00000500000000000000" pitchFamily="2" charset="0"/>
                </a:defRPr>
              </a:lvl1pPr>
            </a:lstStyle>
            <a:p>
              <a:pPr algn="ctr"/>
              <a:r>
                <a:rPr lang="en-IN" sz="4400" b="1" dirty="0">
                  <a:solidFill>
                    <a:srgbClr val="545454"/>
                  </a:solidFill>
                </a:rPr>
                <a:t>2. The Problem</a:t>
              </a:r>
              <a:endParaRPr lang="id-ID" sz="4400" b="1" dirty="0">
                <a:gradFill>
                  <a:gsLst>
                    <a:gs pos="0">
                      <a:schemeClr val="accent1"/>
                    </a:gs>
                    <a:gs pos="100000">
                      <a:schemeClr val="accent4"/>
                    </a:gs>
                  </a:gsLst>
                  <a:lin ang="2700000" scaled="1"/>
                </a:gradFill>
              </a:endParaRPr>
            </a:p>
          </p:txBody>
        </p:sp>
        <p:sp>
          <p:nvSpPr>
            <p:cNvPr id="23" name="TextBox 22"/>
            <p:cNvSpPr txBox="1"/>
            <p:nvPr/>
          </p:nvSpPr>
          <p:spPr>
            <a:xfrm>
              <a:off x="1750923" y="898058"/>
              <a:ext cx="8768834" cy="400110"/>
            </a:xfrm>
            <a:prstGeom prst="rect">
              <a:avLst/>
            </a:prstGeom>
            <a:noFill/>
          </p:spPr>
          <p:txBody>
            <a:bodyPr wrap="square">
              <a:spAutoFit/>
            </a:bodyPr>
            <a:lstStyle/>
            <a:p>
              <a:pPr algn="ctr"/>
              <a:r>
                <a:rPr lang="en-US" sz="2000" dirty="0">
                  <a:solidFill>
                    <a:srgbClr val="F04034"/>
                  </a:solidFill>
                  <a:latin typeface="Montserrat" panose="00000500000000000000" pitchFamily="2" charset="0"/>
                </a:rPr>
                <a:t>What problem are you trying to solve? Is it really a problem?</a:t>
              </a:r>
              <a:endParaRPr lang="en-US" sz="2000" b="0" i="0" dirty="0">
                <a:solidFill>
                  <a:srgbClr val="F04034"/>
                </a:solidFill>
                <a:effectLst/>
                <a:latin typeface="Montserrat" panose="00000500000000000000" pitchFamily="2" charset="0"/>
              </a:endParaRPr>
            </a:p>
          </p:txBody>
        </p:sp>
        <p:sp>
          <p:nvSpPr>
            <p:cNvPr id="8" name="Rectangle 7"/>
            <p:cNvSpPr/>
            <p:nvPr/>
          </p:nvSpPr>
          <p:spPr>
            <a:xfrm>
              <a:off x="791815" y="1611271"/>
              <a:ext cx="10608370" cy="4996634"/>
            </a:xfrm>
            <a:prstGeom prst="rect">
              <a:avLst/>
            </a:prstGeom>
            <a:noFill/>
          </p:spPr>
          <p:txBody>
            <a:bodyPr/>
            <a:lstStyle/>
            <a:p>
              <a:endParaRPr lang="en-IN"/>
            </a:p>
          </p:txBody>
        </p:sp>
        <p:sp>
          <p:nvSpPr>
            <p:cNvPr id="10" name="Freeform: Shape 9"/>
            <p:cNvSpPr/>
            <p:nvPr/>
          </p:nvSpPr>
          <p:spPr bwMode="white">
            <a:xfrm>
              <a:off x="5881079" y="1813707"/>
              <a:ext cx="4834047" cy="2194768"/>
            </a:xfrm>
            <a:custGeom>
              <a:avLst/>
              <a:gdLst>
                <a:gd name="csX0" fmla="*/ 0 w 4834047"/>
                <a:gd name="csY0" fmla="*/ 0 h 3189353"/>
                <a:gd name="csX1" fmla="*/ 4834047 w 4834047"/>
                <a:gd name="csY1" fmla="*/ 0 h 3189353"/>
                <a:gd name="csX2" fmla="*/ 4834047 w 4834047"/>
                <a:gd name="csY2" fmla="*/ 3189353 h 3189353"/>
                <a:gd name="csX3" fmla="*/ 0 w 4834047"/>
                <a:gd name="csY3" fmla="*/ 3189353 h 3189353"/>
                <a:gd name="csX4" fmla="*/ 0 w 4834047"/>
                <a:gd name="csY4" fmla="*/ 0 h 3189353"/>
              </a:gdLst>
              <a:ahLst/>
              <a:cxnLst>
                <a:cxn ang="0">
                  <a:pos x="csX0" y="csY0"/>
                </a:cxn>
                <a:cxn ang="0">
                  <a:pos x="csX1" y="csY1"/>
                </a:cxn>
                <a:cxn ang="0">
                  <a:pos x="csX2" y="csY2"/>
                </a:cxn>
                <a:cxn ang="0">
                  <a:pos x="csX3" y="csY3"/>
                </a:cxn>
                <a:cxn ang="0">
                  <a:pos x="csX4" y="csY4"/>
                </a:cxn>
              </a:cxnLst>
              <a:rect l="l" t="t" r="r" b="b"/>
              <a:pathLst>
                <a:path w="4834047" h="3189353">
                  <a:moveTo>
                    <a:pt x="0" y="0"/>
                  </a:moveTo>
                  <a:lnTo>
                    <a:pt x="4834047" y="0"/>
                  </a:lnTo>
                  <a:lnTo>
                    <a:pt x="4834047" y="3189353"/>
                  </a:lnTo>
                  <a:lnTo>
                    <a:pt x="0" y="3189353"/>
                  </a:lnTo>
                  <a:lnTo>
                    <a:pt x="0" y="0"/>
                  </a:lnTo>
                  <a:close/>
                </a:path>
              </a:pathLst>
            </a:custGeom>
            <a:solidFill>
              <a:schemeClr val="tx1">
                <a:lumMod val="50000"/>
                <a:lumOff val="5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76200" tIns="76200" rIns="76200" bIns="76200" numCol="1" spcCol="1270" anchor="ctr" anchorCtr="0">
              <a:noAutofit/>
            </a:bodyPr>
            <a:lstStyle/>
            <a:p>
              <a:pPr marL="0" lvl="0" indent="0" algn="l" defTabSz="889000">
                <a:lnSpc>
                  <a:spcPct val="100000"/>
                </a:lnSpc>
                <a:spcBef>
                  <a:spcPct val="0"/>
                </a:spcBef>
                <a:spcAft>
                  <a:spcPct val="35000"/>
                </a:spcAft>
                <a:buNone/>
              </a:pPr>
              <a:endParaRPr lang="en-US" sz="2000" b="0" i="0" kern="1200" dirty="0">
                <a:latin typeface="Montserrat" panose="00000500000000000000" pitchFamily="2" charset="0"/>
              </a:endParaRPr>
            </a:p>
            <a:p>
              <a:pPr marL="0" lvl="0" indent="0" algn="l" defTabSz="889000">
                <a:lnSpc>
                  <a:spcPct val="100000"/>
                </a:lnSpc>
                <a:spcBef>
                  <a:spcPct val="0"/>
                </a:spcBef>
                <a:spcAft>
                  <a:spcPct val="35000"/>
                </a:spcAft>
                <a:buNone/>
              </a:pPr>
              <a:endParaRPr lang="en-US" sz="2000" b="0" i="0" kern="1200" dirty="0">
                <a:latin typeface="Montserrat" panose="00000500000000000000" pitchFamily="2" charset="0"/>
              </a:endParaRPr>
            </a:p>
            <a:p>
              <a:pPr marL="0" lvl="0" indent="0" algn="l" defTabSz="889000">
                <a:lnSpc>
                  <a:spcPct val="100000"/>
                </a:lnSpc>
                <a:spcBef>
                  <a:spcPct val="0"/>
                </a:spcBef>
                <a:spcAft>
                  <a:spcPct val="35000"/>
                </a:spcAft>
                <a:buNone/>
              </a:pPr>
              <a:endParaRPr lang="en-US" sz="2000" b="0" i="0" kern="1200" dirty="0">
                <a:latin typeface="Montserrat" panose="00000500000000000000" pitchFamily="2" charset="0"/>
              </a:endParaRPr>
            </a:p>
            <a:p>
              <a:pPr marL="0" lvl="0" indent="0" algn="l" defTabSz="889000">
                <a:lnSpc>
                  <a:spcPct val="100000"/>
                </a:lnSpc>
                <a:spcBef>
                  <a:spcPct val="0"/>
                </a:spcBef>
                <a:spcAft>
                  <a:spcPct val="35000"/>
                </a:spcAft>
                <a:buNone/>
              </a:pPr>
              <a:endParaRPr lang="en-US" sz="2000" b="0" i="0" kern="1200" dirty="0">
                <a:latin typeface="Montserrat" panose="00000500000000000000" pitchFamily="2" charset="0"/>
              </a:endParaRPr>
            </a:p>
            <a:p>
              <a:pPr marL="0" lvl="0" indent="0" algn="l" defTabSz="889000">
                <a:lnSpc>
                  <a:spcPct val="100000"/>
                </a:lnSpc>
                <a:spcBef>
                  <a:spcPct val="0"/>
                </a:spcBef>
                <a:spcAft>
                  <a:spcPct val="35000"/>
                </a:spcAft>
                <a:buNone/>
              </a:pPr>
              <a:endParaRPr lang="en-US" sz="2000" b="0" i="0" kern="1200" dirty="0">
                <a:latin typeface="Montserrat" panose="00000500000000000000" pitchFamily="2" charset="0"/>
              </a:endParaRPr>
            </a:p>
          </p:txBody>
        </p:sp>
        <p:grpSp>
          <p:nvGrpSpPr>
            <p:cNvPr id="12" name="Group 11"/>
            <p:cNvGrpSpPr/>
            <p:nvPr/>
          </p:nvGrpSpPr>
          <p:grpSpPr>
            <a:xfrm>
              <a:off x="804320" y="1830990"/>
              <a:ext cx="4652086" cy="2177485"/>
              <a:chOff x="974280" y="2198571"/>
              <a:chExt cx="4652086" cy="2177485"/>
            </a:xfrm>
          </p:grpSpPr>
          <p:sp>
            <p:nvSpPr>
              <p:cNvPr id="9" name="Freeform: Shape 8"/>
              <p:cNvSpPr/>
              <p:nvPr/>
            </p:nvSpPr>
            <p:spPr bwMode="white">
              <a:xfrm>
                <a:off x="974280" y="2198571"/>
                <a:ext cx="4652086" cy="2177485"/>
              </a:xfrm>
              <a:custGeom>
                <a:avLst/>
                <a:gdLst>
                  <a:gd name="csX0" fmla="*/ 0 w 4652086"/>
                  <a:gd name="csY0" fmla="*/ 0 h 2177485"/>
                  <a:gd name="csX1" fmla="*/ 4652086 w 4652086"/>
                  <a:gd name="csY1" fmla="*/ 0 h 2177485"/>
                  <a:gd name="csX2" fmla="*/ 4652086 w 4652086"/>
                  <a:gd name="csY2" fmla="*/ 2177485 h 2177485"/>
                  <a:gd name="csX3" fmla="*/ 0 w 4652086"/>
                  <a:gd name="csY3" fmla="*/ 2177485 h 2177485"/>
                  <a:gd name="csX4" fmla="*/ 0 w 4652086"/>
                  <a:gd name="csY4" fmla="*/ 0 h 2177485"/>
                </a:gdLst>
                <a:ahLst/>
                <a:cxnLst>
                  <a:cxn ang="0">
                    <a:pos x="csX0" y="csY0"/>
                  </a:cxn>
                  <a:cxn ang="0">
                    <a:pos x="csX1" y="csY1"/>
                  </a:cxn>
                  <a:cxn ang="0">
                    <a:pos x="csX2" y="csY2"/>
                  </a:cxn>
                  <a:cxn ang="0">
                    <a:pos x="csX3" y="csY3"/>
                  </a:cxn>
                  <a:cxn ang="0">
                    <a:pos x="csX4" y="csY4"/>
                  </a:cxn>
                </a:cxnLst>
                <a:rect l="l" t="t" r="r" b="b"/>
                <a:pathLst>
                  <a:path w="4652086" h="2177485">
                    <a:moveTo>
                      <a:pt x="0" y="0"/>
                    </a:moveTo>
                    <a:lnTo>
                      <a:pt x="4652086" y="0"/>
                    </a:lnTo>
                    <a:lnTo>
                      <a:pt x="4652086" y="2177485"/>
                    </a:lnTo>
                    <a:lnTo>
                      <a:pt x="0" y="2177485"/>
                    </a:lnTo>
                    <a:lnTo>
                      <a:pt x="0" y="0"/>
                    </a:lnTo>
                    <a:close/>
                  </a:path>
                </a:pathLst>
              </a:custGeom>
              <a:solidFill>
                <a:srgbClr val="7F7F7F"/>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76200" tIns="76200" rIns="76200" bIns="76200" numCol="1" spcCol="1270" anchor="ctr" anchorCtr="0">
                <a:noAutofit/>
              </a:bodyPr>
              <a:lstStyle/>
              <a:p>
                <a:pPr marL="0" lvl="0" indent="0" algn="l" defTabSz="889000">
                  <a:lnSpc>
                    <a:spcPct val="100000"/>
                  </a:lnSpc>
                  <a:spcBef>
                    <a:spcPct val="0"/>
                  </a:spcBef>
                  <a:spcAft>
                    <a:spcPct val="35000"/>
                  </a:spcAft>
                  <a:buNone/>
                </a:pPr>
                <a:endParaRPr lang="en-US" altLang="en-IN" sz="2000" b="0" i="0" kern="1200" dirty="0">
                  <a:latin typeface="Montserrat" panose="00000500000000000000" pitchFamily="2" charset="0"/>
                </a:endParaRPr>
              </a:p>
            </p:txBody>
          </p:sp>
          <p:sp>
            <p:nvSpPr>
              <p:cNvPr id="3" name="TextBox 2"/>
              <p:cNvSpPr txBox="1"/>
              <p:nvPr/>
            </p:nvSpPr>
            <p:spPr>
              <a:xfrm>
                <a:off x="1101207" y="2273939"/>
                <a:ext cx="4320073" cy="1955920"/>
              </a:xfrm>
              <a:prstGeom prst="rect">
                <a:avLst/>
              </a:prstGeom>
              <a:noFill/>
            </p:spPr>
            <p:txBody>
              <a:bodyPr wrap="square" rtlCol="0">
                <a:spAutoFit/>
              </a:bodyPr>
              <a:lstStyle/>
              <a:p>
                <a:pPr lvl="0">
                  <a:spcBef>
                    <a:spcPct val="0"/>
                  </a:spcBef>
                  <a:spcAft>
                    <a:spcPct val="35000"/>
                  </a:spcAft>
                </a:pPr>
                <a:r>
                  <a:rPr lang="en-IN" dirty="0">
                    <a:solidFill>
                      <a:schemeClr val="bg1"/>
                    </a:solidFill>
                    <a:latin typeface="Montserrat" panose="00000500000000000000" pitchFamily="2" charset="0"/>
                  </a:rPr>
                  <a:t>Description of customer pain points </a:t>
                </a:r>
                <a:endParaRPr lang="en-US" altLang="en-IN" dirty="0">
                  <a:solidFill>
                    <a:schemeClr val="bg1"/>
                  </a:solidFill>
                  <a:latin typeface="Montserrat" panose="00000500000000000000" pitchFamily="2" charset="0"/>
                </a:endParaRPr>
              </a:p>
              <a:p>
                <a:pPr marL="285750" lvl="0" indent="-285750">
                  <a:spcBef>
                    <a:spcPct val="0"/>
                  </a:spcBef>
                  <a:spcAft>
                    <a:spcPct val="35000"/>
                  </a:spcAft>
                  <a:buFont typeface="Arial" panose="020B0604020202020204" pitchFamily="34" charset="0"/>
                  <a:buChar char="•"/>
                </a:pPr>
                <a:r>
                  <a:rPr lang="en-US" altLang="en-IN" sz="1600" dirty="0">
                    <a:solidFill>
                      <a:schemeClr val="bg1"/>
                    </a:solidFill>
                    <a:latin typeface="Montserrat" panose="00000500000000000000" pitchFamily="2" charset="0"/>
                  </a:rPr>
                  <a:t>High energy wastage
Rising electricity demand
Dependence on conventional power
Limited renewable options in public spaces</a:t>
                </a:r>
                <a:endParaRPr lang="en-IN" sz="1600" dirty="0">
                  <a:solidFill>
                    <a:schemeClr val="bg1"/>
                  </a:solidFill>
                  <a:latin typeface="Montserrat" panose="00000500000000000000" pitchFamily="2" charset="0"/>
                </a:endParaRPr>
              </a:p>
            </p:txBody>
          </p:sp>
        </p:grpSp>
        <p:sp>
          <p:nvSpPr>
            <p:cNvPr id="4" name="TextBox 3"/>
            <p:cNvSpPr txBox="1"/>
            <p:nvPr/>
          </p:nvSpPr>
          <p:spPr>
            <a:xfrm>
              <a:off x="6010992" y="1972372"/>
              <a:ext cx="4534678" cy="1877437"/>
            </a:xfrm>
            <a:prstGeom prst="rect">
              <a:avLst/>
            </a:prstGeom>
            <a:noFill/>
          </p:spPr>
          <p:txBody>
            <a:bodyPr wrap="square" rtlCol="0">
              <a:spAutoFit/>
            </a:bodyPr>
            <a:lstStyle/>
            <a:p>
              <a:r>
                <a:rPr lang="en-US" dirty="0">
                  <a:solidFill>
                    <a:schemeClr val="bg1"/>
                  </a:solidFill>
                  <a:latin typeface="Montserrat" panose="00000500000000000000" pitchFamily="2" charset="0"/>
                </a:rPr>
                <a:t>What kind of person/customer is this product for? - Persona :</a:t>
              </a:r>
            </a:p>
            <a:p>
              <a:pPr marL="285750" indent="-285750">
                <a:buFont typeface="Arial" panose="020B0604020202020204" pitchFamily="34" charset="0"/>
                <a:buChar char="•"/>
              </a:pPr>
              <a:r>
                <a:rPr lang="en-US" sz="1600" dirty="0">
                  <a:solidFill>
                    <a:schemeClr val="bg1"/>
                  </a:solidFill>
                  <a:latin typeface="Montserrat" panose="00000500000000000000" pitchFamily="2" charset="0"/>
                </a:rPr>
                <a:t>Railway stations &amp; Bus terminals</a:t>
              </a:r>
            </a:p>
            <a:p>
              <a:pPr marL="285750" indent="-285750">
                <a:buFont typeface="Arial" panose="020B0604020202020204" pitchFamily="34" charset="0"/>
                <a:buChar char="•"/>
              </a:pPr>
              <a:r>
                <a:rPr lang="en-US" sz="1600" dirty="0">
                  <a:solidFill>
                    <a:schemeClr val="bg1"/>
                  </a:solidFill>
                  <a:latin typeface="Montserrat" panose="00000500000000000000" pitchFamily="2" charset="0"/>
                </a:rPr>
                <a:t>Shopping malls</a:t>
              </a:r>
            </a:p>
            <a:p>
              <a:pPr marL="285750" indent="-285750">
                <a:buFont typeface="Arial" panose="020B0604020202020204" pitchFamily="34" charset="0"/>
                <a:buChar char="•"/>
              </a:pPr>
              <a:r>
                <a:rPr lang="en-US" sz="1600" dirty="0">
                  <a:solidFill>
                    <a:schemeClr val="bg1"/>
                  </a:solidFill>
                  <a:latin typeface="Montserrat" panose="00000500000000000000" pitchFamily="2" charset="0"/>
                </a:rPr>
                <a:t>Airports</a:t>
              </a:r>
            </a:p>
            <a:p>
              <a:pPr marL="285750" indent="-285750">
                <a:buFont typeface="Arial" panose="020B0604020202020204" pitchFamily="34" charset="0"/>
                <a:buChar char="•"/>
              </a:pPr>
              <a:r>
                <a:rPr lang="en-US" sz="1600" dirty="0">
                  <a:solidFill>
                    <a:schemeClr val="bg1"/>
                  </a:solidFill>
                  <a:latin typeface="Montserrat" panose="00000500000000000000" pitchFamily="2" charset="0"/>
                </a:rPr>
                <a:t>Educational institutions</a:t>
              </a:r>
            </a:p>
            <a:p>
              <a:pPr marL="285750" indent="-285750">
                <a:buFont typeface="Arial" panose="020B0604020202020204" pitchFamily="34" charset="0"/>
                <a:buChar char="•"/>
              </a:pPr>
              <a:r>
                <a:rPr lang="en-US" sz="1600" dirty="0">
                  <a:solidFill>
                    <a:schemeClr val="bg1"/>
                  </a:solidFill>
                  <a:latin typeface="Montserrat" panose="00000500000000000000" pitchFamily="2" charset="0"/>
                </a:rPr>
                <a:t>Public &amp; Government buildings</a:t>
              </a:r>
              <a:endParaRPr lang="en-IN" sz="1600" dirty="0">
                <a:solidFill>
                  <a:schemeClr val="bg1"/>
                </a:solidFill>
                <a:latin typeface="Montserrat" panose="00000500000000000000" pitchFamily="2" charset="0"/>
              </a:endParaRPr>
            </a:p>
          </p:txBody>
        </p:sp>
        <p:grpSp>
          <p:nvGrpSpPr>
            <p:cNvPr id="16" name="Group 15"/>
            <p:cNvGrpSpPr/>
            <p:nvPr/>
          </p:nvGrpSpPr>
          <p:grpSpPr>
            <a:xfrm>
              <a:off x="804321" y="4303301"/>
              <a:ext cx="4652085" cy="2009778"/>
              <a:chOff x="799696" y="4598127"/>
              <a:chExt cx="4500092" cy="2009778"/>
            </a:xfrm>
          </p:grpSpPr>
          <p:sp>
            <p:nvSpPr>
              <p:cNvPr id="11" name="Freeform: Shape 10"/>
              <p:cNvSpPr/>
              <p:nvPr/>
            </p:nvSpPr>
            <p:spPr bwMode="white">
              <a:xfrm>
                <a:off x="799696" y="4598127"/>
                <a:ext cx="4500092" cy="2009778"/>
              </a:xfrm>
              <a:custGeom>
                <a:avLst/>
                <a:gdLst>
                  <a:gd name="csX0" fmla="*/ 0 w 10600488"/>
                  <a:gd name="csY0" fmla="*/ 0 h 1412393"/>
                  <a:gd name="csX1" fmla="*/ 10600488 w 10600488"/>
                  <a:gd name="csY1" fmla="*/ 0 h 1412393"/>
                  <a:gd name="csX2" fmla="*/ 10600488 w 10600488"/>
                  <a:gd name="csY2" fmla="*/ 1412393 h 1412393"/>
                  <a:gd name="csX3" fmla="*/ 0 w 10600488"/>
                  <a:gd name="csY3" fmla="*/ 1412393 h 1412393"/>
                  <a:gd name="csX4" fmla="*/ 0 w 10600488"/>
                  <a:gd name="csY4" fmla="*/ 0 h 1412393"/>
                </a:gdLst>
                <a:ahLst/>
                <a:cxnLst>
                  <a:cxn ang="0">
                    <a:pos x="csX0" y="csY0"/>
                  </a:cxn>
                  <a:cxn ang="0">
                    <a:pos x="csX1" y="csY1"/>
                  </a:cxn>
                  <a:cxn ang="0">
                    <a:pos x="csX2" y="csY2"/>
                  </a:cxn>
                  <a:cxn ang="0">
                    <a:pos x="csX3" y="csY3"/>
                  </a:cxn>
                  <a:cxn ang="0">
                    <a:pos x="csX4" y="csY4"/>
                  </a:cxn>
                </a:cxnLst>
                <a:rect l="l" t="t" r="r" b="b"/>
                <a:pathLst>
                  <a:path w="10600488" h="1412393">
                    <a:moveTo>
                      <a:pt x="0" y="0"/>
                    </a:moveTo>
                    <a:lnTo>
                      <a:pt x="10600488" y="0"/>
                    </a:lnTo>
                    <a:lnTo>
                      <a:pt x="10600488" y="1412393"/>
                    </a:lnTo>
                    <a:lnTo>
                      <a:pt x="0" y="1412393"/>
                    </a:lnTo>
                    <a:lnTo>
                      <a:pt x="0" y="0"/>
                    </a:lnTo>
                    <a:close/>
                  </a:path>
                </a:pathLst>
              </a:custGeom>
              <a:solidFill>
                <a:srgbClr val="F04034"/>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76200" tIns="76200" rIns="76200" bIns="76200" numCol="1" spcCol="1270" anchor="ctr" anchorCtr="0">
                <a:noAutofit/>
              </a:bodyPr>
              <a:lstStyle/>
              <a:p>
                <a:pPr marL="0" lvl="0" indent="0" algn="l" defTabSz="889000">
                  <a:lnSpc>
                    <a:spcPct val="100000"/>
                  </a:lnSpc>
                  <a:spcBef>
                    <a:spcPct val="0"/>
                  </a:spcBef>
                  <a:spcAft>
                    <a:spcPct val="35000"/>
                  </a:spcAft>
                  <a:buNone/>
                </a:pPr>
                <a:endParaRPr lang="en-US" altLang="en-US" sz="1600" kern="1200" dirty="0">
                  <a:solidFill>
                    <a:schemeClr val="bg1"/>
                  </a:solidFill>
                  <a:latin typeface="Montserrat" panose="00000500000000000000" pitchFamily="2" charset="0"/>
                </a:endParaRPr>
              </a:p>
            </p:txBody>
          </p:sp>
          <p:sp>
            <p:nvSpPr>
              <p:cNvPr id="13" name="TextBox 12"/>
              <p:cNvSpPr txBox="1"/>
              <p:nvPr/>
            </p:nvSpPr>
            <p:spPr>
              <a:xfrm>
                <a:off x="944004" y="4718341"/>
                <a:ext cx="4211474" cy="1815882"/>
              </a:xfrm>
              <a:prstGeom prst="rect">
                <a:avLst/>
              </a:prstGeom>
              <a:noFill/>
            </p:spPr>
            <p:txBody>
              <a:bodyPr wrap="square" rtlCol="0">
                <a:spAutoFit/>
              </a:bodyPr>
              <a:lstStyle/>
              <a:p>
                <a:r>
                  <a:rPr lang="en-US" sz="1600" dirty="0">
                    <a:solidFill>
                      <a:schemeClr val="bg1"/>
                    </a:solidFill>
                    <a:latin typeface="Montserrat" panose="00000500000000000000" pitchFamily="2" charset="0"/>
                  </a:rPr>
                  <a:t>How the innovation solves it - concept &amp; key elements :</a:t>
                </a:r>
              </a:p>
              <a:p>
                <a:pPr marL="285750" indent="-285750">
                  <a:buFont typeface="Arial" panose="020B0604020202020204" pitchFamily="34" charset="0"/>
                  <a:buChar char="•"/>
                </a:pPr>
                <a:endParaRPr lang="en-US" sz="1600" dirty="0">
                  <a:solidFill>
                    <a:schemeClr val="bg1"/>
                  </a:solidFill>
                </a:endParaRPr>
              </a:p>
              <a:p>
                <a:pPr marL="285750" indent="-285750">
                  <a:buFont typeface="Arial" panose="020B0604020202020204" pitchFamily="34" charset="0"/>
                  <a:buChar char="•"/>
                </a:pPr>
                <a:r>
                  <a:rPr lang="en-US" sz="1600" dirty="0">
                    <a:solidFill>
                      <a:schemeClr val="bg1"/>
                    </a:solidFill>
                    <a:latin typeface="Montserrat" panose="00000500000000000000" pitchFamily="2" charset="0"/>
                  </a:rPr>
                  <a:t>Footsteps generate electricity.</a:t>
                </a:r>
              </a:p>
              <a:p>
                <a:pPr marL="285750" indent="-285750">
                  <a:buFont typeface="Arial" panose="020B0604020202020204" pitchFamily="34" charset="0"/>
                  <a:buChar char="•"/>
                </a:pPr>
                <a:r>
                  <a:rPr lang="en-US" sz="1600" dirty="0">
                    <a:solidFill>
                      <a:schemeClr val="bg1"/>
                    </a:solidFill>
                    <a:latin typeface="Montserrat" panose="00000500000000000000" pitchFamily="2" charset="0"/>
                  </a:rPr>
                  <a:t>Stored in batteries.</a:t>
                </a:r>
              </a:p>
              <a:p>
                <a:pPr marL="285750" indent="-285750">
                  <a:buFont typeface="Arial" panose="020B0604020202020204" pitchFamily="34" charset="0"/>
                  <a:buChar char="•"/>
                </a:pPr>
                <a:r>
                  <a:rPr lang="en-US" sz="1600" dirty="0">
                    <a:solidFill>
                      <a:schemeClr val="bg1"/>
                    </a:solidFill>
                    <a:latin typeface="Montserrat" panose="00000500000000000000" pitchFamily="2" charset="0"/>
                  </a:rPr>
                  <a:t>Powers lights/devices.</a:t>
                </a:r>
              </a:p>
              <a:p>
                <a:pPr marL="285750" indent="-285750">
                  <a:buFont typeface="Arial" panose="020B0604020202020204" pitchFamily="34" charset="0"/>
                  <a:buChar char="•"/>
                </a:pPr>
                <a:r>
                  <a:rPr lang="en-US" sz="1600" dirty="0">
                    <a:solidFill>
                      <a:schemeClr val="bg1"/>
                    </a:solidFill>
                    <a:latin typeface="Montserrat" panose="00000500000000000000" pitchFamily="2" charset="0"/>
                  </a:rPr>
                  <a:t>Saves grid power.</a:t>
                </a:r>
                <a:endParaRPr lang="en-IN" sz="1600" dirty="0">
                  <a:solidFill>
                    <a:schemeClr val="bg1"/>
                  </a:solidFill>
                  <a:latin typeface="Montserrat" panose="00000500000000000000" pitchFamily="2" charset="0"/>
                </a:endParaRPr>
              </a:p>
            </p:txBody>
          </p:sp>
        </p:grpSp>
        <p:pic>
          <p:nvPicPr>
            <p:cNvPr id="15" name="Picture 14"/>
            <p:cNvPicPr>
              <a:picLocks noChangeAspect="1"/>
            </p:cNvPicPr>
            <p:nvPr/>
          </p:nvPicPr>
          <p:blipFill>
            <a:blip r:embed="rId2">
              <a:extLst>
                <a:ext uri="{28A0092B-C50C-407E-A947-70E740481C1C}">
                  <a14:useLocalDpi xmlns:a14="http://schemas.microsoft.com/office/drawing/2010/main" val="0"/>
                </a:ext>
              </a:extLst>
            </a:blip>
            <a:srcRect t="20553"/>
            <a:stretch>
              <a:fillRect/>
            </a:stretch>
          </p:blipFill>
          <p:spPr>
            <a:xfrm>
              <a:off x="5901909" y="4299187"/>
              <a:ext cx="4813217" cy="2013892"/>
            </a:xfrm>
            <a:prstGeom prst="rect">
              <a:avLst/>
            </a:prstGeom>
            <a:effectLst>
              <a:softEdge rad="63500"/>
            </a:effectLst>
          </p:spPr>
        </p:pic>
        <p:sp>
          <p:nvSpPr>
            <p:cNvPr id="17" name="TextBox 16"/>
            <p:cNvSpPr txBox="1"/>
            <p:nvPr/>
          </p:nvSpPr>
          <p:spPr>
            <a:xfrm>
              <a:off x="5406301" y="1285709"/>
              <a:ext cx="6620236" cy="369332"/>
            </a:xfrm>
            <a:prstGeom prst="rect">
              <a:avLst/>
            </a:prstGeom>
            <a:noFill/>
          </p:spPr>
          <p:txBody>
            <a:bodyPr wrap="square" rtlCol="0">
              <a:spAutoFit/>
            </a:bodyPr>
            <a:lstStyle/>
            <a:p>
              <a:r>
                <a:rPr lang="en-US" dirty="0"/>
                <a:t>-Large amounts of footstep energy are wasted daily in public spaces.</a:t>
              </a:r>
              <a:endParaRPr lang="en-IN" dirty="0"/>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p:cNvGrpSpPr/>
          <p:nvPr/>
        </p:nvGrpSpPr>
        <p:grpSpPr>
          <a:xfrm>
            <a:off x="551663" y="384488"/>
            <a:ext cx="11145439" cy="6273692"/>
            <a:chOff x="551663" y="384488"/>
            <a:chExt cx="11145439" cy="6273692"/>
          </a:xfrm>
        </p:grpSpPr>
        <p:cxnSp>
          <p:nvCxnSpPr>
            <p:cNvPr id="37" name="Straight Connector 36"/>
            <p:cNvCxnSpPr/>
            <p:nvPr/>
          </p:nvCxnSpPr>
          <p:spPr>
            <a:xfrm>
              <a:off x="5185754" y="1465049"/>
              <a:ext cx="1390650" cy="0"/>
            </a:xfrm>
            <a:prstGeom prst="line">
              <a:avLst/>
            </a:prstGeom>
            <a:ln w="254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1498085" y="5121340"/>
              <a:ext cx="904415" cy="261610"/>
            </a:xfrm>
            <a:prstGeom prst="rect">
              <a:avLst/>
            </a:prstGeom>
            <a:noFill/>
          </p:spPr>
          <p:txBody>
            <a:bodyPr wrap="none" rtlCol="0">
              <a:spAutoFit/>
            </a:bodyPr>
            <a:lstStyle/>
            <a:p>
              <a:pPr algn="ctr"/>
              <a:r>
                <a:rPr lang="en-US" sz="1100" dirty="0">
                  <a:solidFill>
                    <a:schemeClr val="bg1"/>
                  </a:solidFill>
                </a:rPr>
                <a:t>LEARN NOW</a:t>
              </a:r>
            </a:p>
          </p:txBody>
        </p:sp>
        <p:sp>
          <p:nvSpPr>
            <p:cNvPr id="22" name="Title 3"/>
            <p:cNvSpPr txBox="1"/>
            <p:nvPr/>
          </p:nvSpPr>
          <p:spPr>
            <a:xfrm>
              <a:off x="752475" y="384488"/>
              <a:ext cx="10687050" cy="638060"/>
            </a:xfrm>
            <a:prstGeom prst="rect">
              <a:avLst/>
            </a:prstGeom>
            <a:noFill/>
          </p:spPr>
          <p:txBody>
            <a:bodyPr wrap="square" rtlCol="0">
              <a:spAutoFit/>
            </a:bodyPr>
            <a:lstStyle>
              <a:defPPr>
                <a:defRPr lang="en-US"/>
              </a:defPPr>
              <a:lvl1pPr>
                <a:lnSpc>
                  <a:spcPct val="80000"/>
                </a:lnSpc>
                <a:defRPr sz="6000">
                  <a:solidFill>
                    <a:schemeClr val="bg1"/>
                  </a:solidFill>
                  <a:latin typeface="Montserrat" panose="00000500000000000000" pitchFamily="2" charset="0"/>
                  <a:cs typeface="Montserrat" panose="00000500000000000000" pitchFamily="2" charset="0"/>
                </a:defRPr>
              </a:lvl1pPr>
            </a:lstStyle>
            <a:p>
              <a:pPr algn="ctr"/>
              <a:r>
                <a:rPr lang="en-IN" sz="4400" b="1" dirty="0">
                  <a:solidFill>
                    <a:srgbClr val="545454"/>
                  </a:solidFill>
                </a:rPr>
                <a:t>3.The Solution</a:t>
              </a:r>
              <a:endParaRPr lang="id-ID" sz="4400" b="1" dirty="0">
                <a:gradFill>
                  <a:gsLst>
                    <a:gs pos="0">
                      <a:schemeClr val="accent1"/>
                    </a:gs>
                    <a:gs pos="100000">
                      <a:schemeClr val="accent4"/>
                    </a:gs>
                  </a:gsLst>
                  <a:lin ang="2700000" scaled="1"/>
                </a:gradFill>
              </a:endParaRPr>
            </a:p>
          </p:txBody>
        </p:sp>
        <p:sp>
          <p:nvSpPr>
            <p:cNvPr id="4" name="Rectangle 3"/>
            <p:cNvSpPr/>
            <p:nvPr/>
          </p:nvSpPr>
          <p:spPr>
            <a:xfrm>
              <a:off x="791815" y="1593854"/>
              <a:ext cx="10608370" cy="4996634"/>
            </a:xfrm>
            <a:prstGeom prst="rect">
              <a:avLst/>
            </a:prstGeom>
            <a:noFill/>
          </p:spPr>
          <p:txBody>
            <a:bodyPr/>
            <a:lstStyle/>
            <a:p>
              <a:endParaRPr lang="en-IN"/>
            </a:p>
          </p:txBody>
        </p:sp>
        <p:sp>
          <p:nvSpPr>
            <p:cNvPr id="6" name="Freeform: Shape 5"/>
            <p:cNvSpPr/>
            <p:nvPr/>
          </p:nvSpPr>
          <p:spPr bwMode="white">
            <a:xfrm>
              <a:off x="551663" y="1238306"/>
              <a:ext cx="5524322" cy="3806619"/>
            </a:xfrm>
            <a:custGeom>
              <a:avLst/>
              <a:gdLst>
                <a:gd name="csX0" fmla="*/ 0 w 5185029"/>
                <a:gd name="csY0" fmla="*/ 0 h 3362407"/>
                <a:gd name="csX1" fmla="*/ 5185029 w 5185029"/>
                <a:gd name="csY1" fmla="*/ 0 h 3362407"/>
                <a:gd name="csX2" fmla="*/ 5185029 w 5185029"/>
                <a:gd name="csY2" fmla="*/ 3362407 h 3362407"/>
                <a:gd name="csX3" fmla="*/ 0 w 5185029"/>
                <a:gd name="csY3" fmla="*/ 3362407 h 3362407"/>
                <a:gd name="csX4" fmla="*/ 0 w 5185029"/>
                <a:gd name="csY4" fmla="*/ 0 h 3362407"/>
              </a:gdLst>
              <a:ahLst/>
              <a:cxnLst>
                <a:cxn ang="0">
                  <a:pos x="csX0" y="csY0"/>
                </a:cxn>
                <a:cxn ang="0">
                  <a:pos x="csX1" y="csY1"/>
                </a:cxn>
                <a:cxn ang="0">
                  <a:pos x="csX2" y="csY2"/>
                </a:cxn>
                <a:cxn ang="0">
                  <a:pos x="csX3" y="csY3"/>
                </a:cxn>
                <a:cxn ang="0">
                  <a:pos x="csX4" y="csY4"/>
                </a:cxn>
              </a:cxnLst>
              <a:rect l="l" t="t" r="r" b="b"/>
              <a:pathLst>
                <a:path w="5185029" h="3362407">
                  <a:moveTo>
                    <a:pt x="0" y="0"/>
                  </a:moveTo>
                  <a:lnTo>
                    <a:pt x="5185029" y="0"/>
                  </a:lnTo>
                  <a:lnTo>
                    <a:pt x="5185029" y="3362407"/>
                  </a:lnTo>
                  <a:lnTo>
                    <a:pt x="0" y="3362407"/>
                  </a:lnTo>
                  <a:lnTo>
                    <a:pt x="0" y="0"/>
                  </a:lnTo>
                  <a:close/>
                </a:path>
              </a:pathLst>
            </a:custGeom>
            <a:solidFill>
              <a:srgbClr val="7F7F7F"/>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76200" tIns="76200" rIns="76200" bIns="76200" numCol="1" spcCol="1270" anchor="ctr" anchorCtr="0">
              <a:noAutofit/>
            </a:bodyPr>
            <a:lstStyle/>
            <a:p>
              <a:pPr marL="0" lvl="0" indent="0" algn="l" defTabSz="889000">
                <a:lnSpc>
                  <a:spcPct val="100000"/>
                </a:lnSpc>
                <a:spcBef>
                  <a:spcPct val="0"/>
                </a:spcBef>
                <a:spcAft>
                  <a:spcPct val="35000"/>
                </a:spcAft>
                <a:buNone/>
              </a:pPr>
              <a:endParaRPr lang="en-US" altLang="en-IN" sz="2000" b="0" i="0" kern="1200" dirty="0">
                <a:latin typeface="Montserrat" panose="00000500000000000000" pitchFamily="2" charset="0"/>
              </a:endParaRPr>
            </a:p>
          </p:txBody>
        </p:sp>
        <p:sp>
          <p:nvSpPr>
            <p:cNvPr id="7" name="Freeform: Shape 6"/>
            <p:cNvSpPr/>
            <p:nvPr/>
          </p:nvSpPr>
          <p:spPr bwMode="white">
            <a:xfrm>
              <a:off x="6229651" y="1238306"/>
              <a:ext cx="5457852" cy="2282660"/>
            </a:xfrm>
            <a:custGeom>
              <a:avLst/>
              <a:gdLst>
                <a:gd name="csX0" fmla="*/ 0 w 5038719"/>
                <a:gd name="csY0" fmla="*/ 0 h 2437462"/>
                <a:gd name="csX1" fmla="*/ 5038719 w 5038719"/>
                <a:gd name="csY1" fmla="*/ 0 h 2437462"/>
                <a:gd name="csX2" fmla="*/ 5038719 w 5038719"/>
                <a:gd name="csY2" fmla="*/ 2437462 h 2437462"/>
                <a:gd name="csX3" fmla="*/ 0 w 5038719"/>
                <a:gd name="csY3" fmla="*/ 2437462 h 2437462"/>
                <a:gd name="csX4" fmla="*/ 0 w 5038719"/>
                <a:gd name="csY4" fmla="*/ 0 h 2437462"/>
              </a:gdLst>
              <a:ahLst/>
              <a:cxnLst>
                <a:cxn ang="0">
                  <a:pos x="csX0" y="csY0"/>
                </a:cxn>
                <a:cxn ang="0">
                  <a:pos x="csX1" y="csY1"/>
                </a:cxn>
                <a:cxn ang="0">
                  <a:pos x="csX2" y="csY2"/>
                </a:cxn>
                <a:cxn ang="0">
                  <a:pos x="csX3" y="csY3"/>
                </a:cxn>
                <a:cxn ang="0">
                  <a:pos x="csX4" y="csY4"/>
                </a:cxn>
              </a:cxnLst>
              <a:rect l="l" t="t" r="r" b="b"/>
              <a:pathLst>
                <a:path w="5038719" h="2437462">
                  <a:moveTo>
                    <a:pt x="0" y="0"/>
                  </a:moveTo>
                  <a:lnTo>
                    <a:pt x="5038719" y="0"/>
                  </a:lnTo>
                  <a:lnTo>
                    <a:pt x="5038719" y="2437462"/>
                  </a:lnTo>
                  <a:lnTo>
                    <a:pt x="0" y="2437462"/>
                  </a:lnTo>
                  <a:lnTo>
                    <a:pt x="0" y="0"/>
                  </a:lnTo>
                  <a:close/>
                </a:path>
              </a:pathLst>
            </a:custGeom>
            <a:solidFill>
              <a:schemeClr val="tx1">
                <a:lumMod val="50000"/>
                <a:lumOff val="5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76200" tIns="76200" rIns="76200" bIns="76200" numCol="1" spcCol="1270" anchor="ctr" anchorCtr="0">
              <a:noAutofit/>
            </a:bodyPr>
            <a:lstStyle/>
            <a:p>
              <a:pPr marL="0" lvl="0" indent="0" algn="l" defTabSz="889000">
                <a:lnSpc>
                  <a:spcPct val="100000"/>
                </a:lnSpc>
                <a:spcBef>
                  <a:spcPct val="0"/>
                </a:spcBef>
                <a:spcAft>
                  <a:spcPct val="35000"/>
                </a:spcAft>
                <a:buNone/>
              </a:pPr>
              <a:endParaRPr lang="en-US" altLang="en-IN" sz="1400" b="0" i="0" kern="1200" dirty="0">
                <a:latin typeface="Montserrat" panose="00000500000000000000" pitchFamily="2" charset="0"/>
              </a:endParaRPr>
            </a:p>
          </p:txBody>
        </p:sp>
        <p:sp>
          <p:nvSpPr>
            <p:cNvPr id="8" name="Freeform: Shape 7"/>
            <p:cNvSpPr/>
            <p:nvPr/>
          </p:nvSpPr>
          <p:spPr bwMode="white">
            <a:xfrm>
              <a:off x="551663" y="5271669"/>
              <a:ext cx="5524322" cy="1326468"/>
            </a:xfrm>
            <a:custGeom>
              <a:avLst/>
              <a:gdLst>
                <a:gd name="csX0" fmla="*/ 0 w 10508299"/>
                <a:gd name="csY0" fmla="*/ 0 h 623848"/>
                <a:gd name="csX1" fmla="*/ 10508299 w 10508299"/>
                <a:gd name="csY1" fmla="*/ 0 h 623848"/>
                <a:gd name="csX2" fmla="*/ 10508299 w 10508299"/>
                <a:gd name="csY2" fmla="*/ 623848 h 623848"/>
                <a:gd name="csX3" fmla="*/ 0 w 10508299"/>
                <a:gd name="csY3" fmla="*/ 623848 h 623848"/>
                <a:gd name="csX4" fmla="*/ 0 w 10508299"/>
                <a:gd name="csY4" fmla="*/ 0 h 623848"/>
              </a:gdLst>
              <a:ahLst/>
              <a:cxnLst>
                <a:cxn ang="0">
                  <a:pos x="csX0" y="csY0"/>
                </a:cxn>
                <a:cxn ang="0">
                  <a:pos x="csX1" y="csY1"/>
                </a:cxn>
                <a:cxn ang="0">
                  <a:pos x="csX2" y="csY2"/>
                </a:cxn>
                <a:cxn ang="0">
                  <a:pos x="csX3" y="csY3"/>
                </a:cxn>
                <a:cxn ang="0">
                  <a:pos x="csX4" y="csY4"/>
                </a:cxn>
              </a:cxnLst>
              <a:rect l="l" t="t" r="r" b="b"/>
              <a:pathLst>
                <a:path w="10508299" h="623848">
                  <a:moveTo>
                    <a:pt x="0" y="0"/>
                  </a:moveTo>
                  <a:lnTo>
                    <a:pt x="10508299" y="0"/>
                  </a:lnTo>
                  <a:lnTo>
                    <a:pt x="10508299" y="623848"/>
                  </a:lnTo>
                  <a:lnTo>
                    <a:pt x="0" y="623848"/>
                  </a:lnTo>
                  <a:lnTo>
                    <a:pt x="0" y="0"/>
                  </a:lnTo>
                  <a:close/>
                </a:path>
              </a:pathLst>
            </a:custGeom>
            <a:solidFill>
              <a:srgbClr val="F04034"/>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endParaRPr lang="en-US" dirty="0">
                <a:solidFill>
                  <a:schemeClr val="bg1"/>
                </a:solidFill>
                <a:latin typeface="Montserrat" panose="00000500000000000000" pitchFamily="2" charset="0"/>
              </a:endParaRPr>
            </a:p>
          </p:txBody>
        </p:sp>
        <p:sp>
          <p:nvSpPr>
            <p:cNvPr id="2" name="TextBox 1"/>
            <p:cNvSpPr txBox="1"/>
            <p:nvPr/>
          </p:nvSpPr>
          <p:spPr>
            <a:xfrm>
              <a:off x="606325" y="1397820"/>
              <a:ext cx="5416754" cy="3385542"/>
            </a:xfrm>
            <a:prstGeom prst="rect">
              <a:avLst/>
            </a:prstGeom>
            <a:noFill/>
          </p:spPr>
          <p:txBody>
            <a:bodyPr wrap="square" rtlCol="0">
              <a:spAutoFit/>
            </a:bodyPr>
            <a:lstStyle/>
            <a:p>
              <a:r>
                <a:rPr lang="en-IN" dirty="0">
                  <a:solidFill>
                    <a:schemeClr val="bg1"/>
                  </a:solidFill>
                  <a:latin typeface="Montserrat" panose="00000500000000000000" pitchFamily="2" charset="0"/>
                </a:rPr>
                <a:t>What the innovation does </a:t>
              </a:r>
              <a:r>
                <a:rPr lang="en-US" altLang="en-IN" dirty="0">
                  <a:solidFill>
                    <a:schemeClr val="bg1"/>
                  </a:solidFill>
                  <a:latin typeface="Montserrat" panose="00000500000000000000" pitchFamily="2" charset="0"/>
                </a:rPr>
                <a:t>:</a:t>
              </a:r>
            </a:p>
            <a:p>
              <a:endParaRPr lang="en-US" dirty="0">
                <a:solidFill>
                  <a:schemeClr val="bg1"/>
                </a:solidFill>
                <a:latin typeface="Montserrat" panose="00000500000000000000" pitchFamily="2" charset="0"/>
              </a:endParaRPr>
            </a:p>
            <a:p>
              <a:r>
                <a:rPr lang="en-US" sz="1600" dirty="0">
                  <a:solidFill>
                    <a:schemeClr val="bg1"/>
                  </a:solidFill>
                  <a:latin typeface="Montserrat" panose="00000500000000000000" pitchFamily="2" charset="0"/>
                </a:rPr>
                <a:t>Our Piezoelectric Floor Tile System harvests energy from human footsteps and converts it into electricity. It is designed to be efficient, durable, and suitable for public spaces like malls, stations, and offices.</a:t>
              </a:r>
            </a:p>
            <a:p>
              <a:endParaRPr lang="en-US" sz="1600" dirty="0">
                <a:solidFill>
                  <a:schemeClr val="bg1"/>
                </a:solidFill>
                <a:latin typeface="Montserrat" panose="00000500000000000000" pitchFamily="2" charset="0"/>
              </a:endParaRPr>
            </a:p>
            <a:p>
              <a:r>
                <a:rPr lang="en-US" b="1" dirty="0">
                  <a:solidFill>
                    <a:schemeClr val="bg1"/>
                  </a:solidFill>
                  <a:latin typeface="Montserrat" panose="00000500000000000000" pitchFamily="2" charset="0"/>
                </a:rPr>
                <a:t>Features: </a:t>
              </a:r>
            </a:p>
            <a:p>
              <a:pPr marL="285750" indent="-285750">
                <a:buFont typeface="Arial" panose="020B0604020202020204" pitchFamily="34" charset="0"/>
                <a:buChar char="•"/>
              </a:pPr>
              <a:r>
                <a:rPr lang="en-US" sz="1600" dirty="0">
                  <a:solidFill>
                    <a:schemeClr val="bg1"/>
                  </a:solidFill>
                  <a:latin typeface="Montserrat" panose="00000500000000000000" pitchFamily="2" charset="0"/>
                </a:rPr>
                <a:t>Converts footsteps into usable electricity and stores it safely</a:t>
              </a:r>
            </a:p>
            <a:p>
              <a:pPr marL="285750" indent="-285750">
                <a:buFont typeface="Arial" panose="020B0604020202020204" pitchFamily="34" charset="0"/>
                <a:buChar char="•"/>
              </a:pPr>
              <a:r>
                <a:rPr lang="en-US" sz="1600" dirty="0">
                  <a:solidFill>
                    <a:schemeClr val="bg1"/>
                  </a:solidFill>
                  <a:latin typeface="Montserrat" panose="00000500000000000000" pitchFamily="2" charset="0"/>
                </a:rPr>
                <a:t>Powers LEDs, sensors, and small devices</a:t>
              </a:r>
            </a:p>
            <a:p>
              <a:pPr marL="285750" indent="-285750">
                <a:buFont typeface="Arial" panose="020B0604020202020204" pitchFamily="34" charset="0"/>
                <a:buChar char="•"/>
              </a:pPr>
              <a:r>
                <a:rPr lang="en-US" sz="1600" dirty="0">
                  <a:solidFill>
                    <a:schemeClr val="bg1"/>
                  </a:solidFill>
                  <a:latin typeface="Montserrat" panose="00000500000000000000" pitchFamily="2" charset="0"/>
                </a:rPr>
                <a:t>Durable and easy to install in high-footfall areas</a:t>
              </a:r>
              <a:endParaRPr lang="en-IN" sz="1600" dirty="0">
                <a:solidFill>
                  <a:schemeClr val="bg1"/>
                </a:solidFill>
                <a:latin typeface="Montserrat" panose="00000500000000000000" pitchFamily="2" charset="0"/>
              </a:endParaRPr>
            </a:p>
          </p:txBody>
        </p:sp>
        <p:sp>
          <p:nvSpPr>
            <p:cNvPr id="9" name="TextBox 8"/>
            <p:cNvSpPr txBox="1"/>
            <p:nvPr/>
          </p:nvSpPr>
          <p:spPr>
            <a:xfrm>
              <a:off x="6247071" y="1377728"/>
              <a:ext cx="5359989" cy="1877437"/>
            </a:xfrm>
            <a:prstGeom prst="rect">
              <a:avLst/>
            </a:prstGeom>
            <a:noFill/>
          </p:spPr>
          <p:txBody>
            <a:bodyPr wrap="square" rtlCol="0">
              <a:spAutoFit/>
            </a:bodyPr>
            <a:lstStyle/>
            <a:p>
              <a:r>
                <a:rPr lang="en-IN" dirty="0">
                  <a:solidFill>
                    <a:schemeClr val="bg1"/>
                  </a:solidFill>
                  <a:latin typeface="Montserrat" panose="00000500000000000000" pitchFamily="2" charset="0"/>
                </a:rPr>
                <a:t>Why it’s compelling </a:t>
              </a:r>
              <a:r>
                <a:rPr lang="en-US" altLang="en-IN" sz="1200" dirty="0">
                  <a:solidFill>
                    <a:schemeClr val="bg1"/>
                  </a:solidFill>
                  <a:latin typeface="Montserrat" panose="00000500000000000000" pitchFamily="2" charset="0"/>
                </a:rPr>
                <a:t>:</a:t>
              </a:r>
            </a:p>
            <a:p>
              <a:endParaRPr lang="en-US" dirty="0">
                <a:solidFill>
                  <a:schemeClr val="bg1"/>
                </a:solidFill>
                <a:latin typeface="Montserrat" panose="00000500000000000000" pitchFamily="2" charset="0"/>
              </a:endParaRPr>
            </a:p>
            <a:p>
              <a:r>
                <a:rPr lang="en-US" sz="1600" dirty="0">
                  <a:solidFill>
                    <a:schemeClr val="bg1"/>
                  </a:solidFill>
                  <a:latin typeface="Montserrat" panose="00000500000000000000" pitchFamily="2" charset="0"/>
                </a:rPr>
                <a:t>Our solution bridges this gap by providing a sustainable and cost-effective way to generate electricity from footsteps. It is durable, energy-efficient, and can be easily installed in public spaces and high-traffic areas.</a:t>
              </a:r>
              <a:endParaRPr lang="en-IN" sz="1600" dirty="0">
                <a:solidFill>
                  <a:schemeClr val="bg1"/>
                </a:solidFill>
                <a:latin typeface="Montserrat" panose="00000500000000000000" pitchFamily="2" charset="0"/>
              </a:endParaRPr>
            </a:p>
          </p:txBody>
        </p:sp>
        <p:grpSp>
          <p:nvGrpSpPr>
            <p:cNvPr id="16" name="Group 15"/>
            <p:cNvGrpSpPr/>
            <p:nvPr/>
          </p:nvGrpSpPr>
          <p:grpSpPr>
            <a:xfrm>
              <a:off x="6280348" y="3747709"/>
              <a:ext cx="5416754" cy="2910471"/>
              <a:chOff x="6280348" y="3747709"/>
              <a:chExt cx="5416754" cy="2910471"/>
            </a:xfrm>
            <a:effectLst>
              <a:glow rad="101600">
                <a:schemeClr val="accent3">
                  <a:satMod val="175000"/>
                  <a:alpha val="40000"/>
                </a:schemeClr>
              </a:glow>
            </a:effectLst>
          </p:grpSpPr>
          <p:sp>
            <p:nvSpPr>
              <p:cNvPr id="14" name="Rectangle 13"/>
              <p:cNvSpPr/>
              <p:nvPr/>
            </p:nvSpPr>
            <p:spPr>
              <a:xfrm>
                <a:off x="6280348" y="3747709"/>
                <a:ext cx="5416754" cy="2842779"/>
              </a:xfrm>
              <a:prstGeom prst="rect">
                <a:avLst/>
              </a:prstGeom>
              <a:solidFill>
                <a:schemeClr val="tx1">
                  <a:lumMod val="50000"/>
                  <a:lumOff val="50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3" name="Picture 1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6319996" y="3815401"/>
                <a:ext cx="5377106" cy="2842779"/>
              </a:xfrm>
              <a:prstGeom prst="rect">
                <a:avLst/>
              </a:prstGeom>
            </p:spPr>
          </p:pic>
        </p:grpSp>
        <p:sp>
          <p:nvSpPr>
            <p:cNvPr id="15" name="TextBox 14"/>
            <p:cNvSpPr txBox="1"/>
            <p:nvPr/>
          </p:nvSpPr>
          <p:spPr>
            <a:xfrm>
              <a:off x="721767" y="5396294"/>
              <a:ext cx="5184113" cy="1077218"/>
            </a:xfrm>
            <a:prstGeom prst="rect">
              <a:avLst/>
            </a:prstGeom>
            <a:noFill/>
          </p:spPr>
          <p:txBody>
            <a:bodyPr wrap="square" rtlCol="0">
              <a:spAutoFit/>
            </a:bodyPr>
            <a:lstStyle/>
            <a:p>
              <a:r>
                <a:rPr lang="en-US" dirty="0">
                  <a:solidFill>
                    <a:schemeClr val="bg1"/>
                  </a:solidFill>
                  <a:latin typeface="Montserrat" panose="00000500000000000000" pitchFamily="2" charset="0"/>
                </a:rPr>
                <a:t>Include explainer videos, demos, product screenshots if any</a:t>
              </a:r>
            </a:p>
            <a:p>
              <a:pPr marL="285750" indent="-285750">
                <a:buFont typeface="Arial" panose="020B0604020202020204" pitchFamily="34" charset="0"/>
                <a:buChar char="•"/>
              </a:pPr>
              <a:r>
                <a:rPr lang="en-US" sz="1400" dirty="0">
                  <a:solidFill>
                    <a:schemeClr val="bg1"/>
                  </a:solidFill>
                  <a:latin typeface="Montserrat" panose="00000500000000000000" pitchFamily="2" charset="0"/>
                  <a:hlinkClick r:id="rId3"/>
                </a:rPr>
                <a:t>https://youtu.be/YZ4OBxyyqOg?si=bcKz9o7-9FmDvqPp</a:t>
              </a:r>
              <a:endParaRPr lang="en-US" sz="1400" dirty="0">
                <a:solidFill>
                  <a:schemeClr val="bg1"/>
                </a:solidFill>
                <a:latin typeface="Montserrat" panose="00000500000000000000" pitchFamily="2" charset="0"/>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3"/>
          <p:cNvGrpSpPr/>
          <p:nvPr/>
        </p:nvGrpSpPr>
        <p:grpSpPr>
          <a:xfrm>
            <a:off x="579503" y="231075"/>
            <a:ext cx="11032993" cy="6376830"/>
            <a:chOff x="579503" y="231075"/>
            <a:chExt cx="11032993" cy="6376830"/>
          </a:xfrm>
        </p:grpSpPr>
        <p:cxnSp>
          <p:nvCxnSpPr>
            <p:cNvPr id="37" name="Straight Connector 36"/>
            <p:cNvCxnSpPr/>
            <p:nvPr/>
          </p:nvCxnSpPr>
          <p:spPr>
            <a:xfrm>
              <a:off x="5185754" y="1465049"/>
              <a:ext cx="1390650" cy="0"/>
            </a:xfrm>
            <a:prstGeom prst="line">
              <a:avLst/>
            </a:prstGeom>
            <a:ln w="254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1498085" y="5121340"/>
              <a:ext cx="904415" cy="261610"/>
            </a:xfrm>
            <a:prstGeom prst="rect">
              <a:avLst/>
            </a:prstGeom>
            <a:noFill/>
          </p:spPr>
          <p:txBody>
            <a:bodyPr wrap="none" rtlCol="0">
              <a:spAutoFit/>
            </a:bodyPr>
            <a:lstStyle/>
            <a:p>
              <a:pPr algn="ctr"/>
              <a:r>
                <a:rPr lang="en-US" sz="1100" dirty="0">
                  <a:solidFill>
                    <a:schemeClr val="bg1"/>
                  </a:solidFill>
                </a:rPr>
                <a:t>LEARN NOW</a:t>
              </a:r>
            </a:p>
          </p:txBody>
        </p:sp>
        <p:sp>
          <p:nvSpPr>
            <p:cNvPr id="22" name="Title 3"/>
            <p:cNvSpPr txBox="1"/>
            <p:nvPr/>
          </p:nvSpPr>
          <p:spPr>
            <a:xfrm>
              <a:off x="713135" y="231075"/>
              <a:ext cx="10687050" cy="638060"/>
            </a:xfrm>
            <a:prstGeom prst="rect">
              <a:avLst/>
            </a:prstGeom>
            <a:noFill/>
          </p:spPr>
          <p:txBody>
            <a:bodyPr wrap="square" rtlCol="0">
              <a:spAutoFit/>
            </a:bodyPr>
            <a:lstStyle>
              <a:defPPr>
                <a:defRPr lang="en-US"/>
              </a:defPPr>
              <a:lvl1pPr>
                <a:lnSpc>
                  <a:spcPct val="80000"/>
                </a:lnSpc>
                <a:defRPr sz="6000">
                  <a:solidFill>
                    <a:schemeClr val="bg1"/>
                  </a:solidFill>
                  <a:latin typeface="Montserrat" panose="00000500000000000000" pitchFamily="2" charset="0"/>
                  <a:cs typeface="Montserrat" panose="00000500000000000000" pitchFamily="2" charset="0"/>
                </a:defRPr>
              </a:lvl1pPr>
            </a:lstStyle>
            <a:p>
              <a:pPr algn="ctr"/>
              <a:r>
                <a:rPr lang="en-IN" sz="4400" b="1" dirty="0">
                  <a:solidFill>
                    <a:srgbClr val="545454"/>
                  </a:solidFill>
                </a:rPr>
                <a:t>4. The innovation</a:t>
              </a:r>
              <a:endParaRPr lang="id-ID" sz="4400" b="1" dirty="0">
                <a:gradFill>
                  <a:gsLst>
                    <a:gs pos="0">
                      <a:schemeClr val="accent1"/>
                    </a:gs>
                    <a:gs pos="100000">
                      <a:schemeClr val="accent4"/>
                    </a:gs>
                  </a:gsLst>
                  <a:lin ang="2700000" scaled="1"/>
                </a:gradFill>
              </a:endParaRPr>
            </a:p>
          </p:txBody>
        </p:sp>
        <p:sp>
          <p:nvSpPr>
            <p:cNvPr id="4" name="Rectangle 3"/>
            <p:cNvSpPr/>
            <p:nvPr/>
          </p:nvSpPr>
          <p:spPr>
            <a:xfrm>
              <a:off x="791815" y="1611271"/>
              <a:ext cx="10608370" cy="4996634"/>
            </a:xfrm>
            <a:prstGeom prst="rect">
              <a:avLst/>
            </a:prstGeom>
            <a:noFill/>
          </p:spPr>
          <p:txBody>
            <a:bodyPr/>
            <a:lstStyle/>
            <a:p>
              <a:endParaRPr lang="en-IN"/>
            </a:p>
          </p:txBody>
        </p:sp>
        <p:sp>
          <p:nvSpPr>
            <p:cNvPr id="6" name="Freeform: Shape 5"/>
            <p:cNvSpPr/>
            <p:nvPr/>
          </p:nvSpPr>
          <p:spPr bwMode="white">
            <a:xfrm>
              <a:off x="579503" y="5618172"/>
              <a:ext cx="11032993" cy="903262"/>
            </a:xfrm>
            <a:custGeom>
              <a:avLst/>
              <a:gdLst>
                <a:gd name="csX0" fmla="*/ 0 w 9796447"/>
                <a:gd name="csY0" fmla="*/ 0 h 2306077"/>
                <a:gd name="csX1" fmla="*/ 9796447 w 9796447"/>
                <a:gd name="csY1" fmla="*/ 0 h 2306077"/>
                <a:gd name="csX2" fmla="*/ 9796447 w 9796447"/>
                <a:gd name="csY2" fmla="*/ 2306077 h 2306077"/>
                <a:gd name="csX3" fmla="*/ 0 w 9796447"/>
                <a:gd name="csY3" fmla="*/ 2306077 h 2306077"/>
                <a:gd name="csX4" fmla="*/ 0 w 9796447"/>
                <a:gd name="csY4" fmla="*/ 0 h 2306077"/>
              </a:gdLst>
              <a:ahLst/>
              <a:cxnLst>
                <a:cxn ang="0">
                  <a:pos x="csX0" y="csY0"/>
                </a:cxn>
                <a:cxn ang="0">
                  <a:pos x="csX1" y="csY1"/>
                </a:cxn>
                <a:cxn ang="0">
                  <a:pos x="csX2" y="csY2"/>
                </a:cxn>
                <a:cxn ang="0">
                  <a:pos x="csX3" y="csY3"/>
                </a:cxn>
                <a:cxn ang="0">
                  <a:pos x="csX4" y="csY4"/>
                </a:cxn>
              </a:cxnLst>
              <a:rect l="l" t="t" r="r" b="b"/>
              <a:pathLst>
                <a:path w="9796447" h="2306077">
                  <a:moveTo>
                    <a:pt x="0" y="0"/>
                  </a:moveTo>
                  <a:lnTo>
                    <a:pt x="9796447" y="0"/>
                  </a:lnTo>
                  <a:lnTo>
                    <a:pt x="9796447" y="2306077"/>
                  </a:lnTo>
                  <a:lnTo>
                    <a:pt x="0" y="2306077"/>
                  </a:lnTo>
                  <a:lnTo>
                    <a:pt x="0" y="0"/>
                  </a:lnTo>
                  <a:close/>
                </a:path>
              </a:pathLst>
            </a:custGeom>
            <a:solidFill>
              <a:srgbClr val="F04034"/>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endParaRPr lang="en-IN" sz="2400" kern="1200" dirty="0">
                <a:solidFill>
                  <a:schemeClr val="bg1"/>
                </a:solidFill>
                <a:latin typeface="Montserrat" panose="00000500000000000000" pitchFamily="2" charset="0"/>
              </a:endParaRPr>
            </a:p>
          </p:txBody>
        </p:sp>
        <p:sp>
          <p:nvSpPr>
            <p:cNvPr id="7" name="Freeform: Shape 6"/>
            <p:cNvSpPr/>
            <p:nvPr/>
          </p:nvSpPr>
          <p:spPr bwMode="white">
            <a:xfrm>
              <a:off x="1029881" y="1007136"/>
              <a:ext cx="5044582" cy="1998998"/>
            </a:xfrm>
            <a:custGeom>
              <a:avLst/>
              <a:gdLst>
                <a:gd name="csX0" fmla="*/ 0 w 5044582"/>
                <a:gd name="csY0" fmla="*/ 0 h 2306077"/>
                <a:gd name="csX1" fmla="*/ 5044582 w 5044582"/>
                <a:gd name="csY1" fmla="*/ 0 h 2306077"/>
                <a:gd name="csX2" fmla="*/ 5044582 w 5044582"/>
                <a:gd name="csY2" fmla="*/ 2306077 h 2306077"/>
                <a:gd name="csX3" fmla="*/ 0 w 5044582"/>
                <a:gd name="csY3" fmla="*/ 2306077 h 2306077"/>
                <a:gd name="csX4" fmla="*/ 0 w 5044582"/>
                <a:gd name="csY4" fmla="*/ 0 h 2306077"/>
              </a:gdLst>
              <a:ahLst/>
              <a:cxnLst>
                <a:cxn ang="0">
                  <a:pos x="csX0" y="csY0"/>
                </a:cxn>
                <a:cxn ang="0">
                  <a:pos x="csX1" y="csY1"/>
                </a:cxn>
                <a:cxn ang="0">
                  <a:pos x="csX2" y="csY2"/>
                </a:cxn>
                <a:cxn ang="0">
                  <a:pos x="csX3" y="csY3"/>
                </a:cxn>
                <a:cxn ang="0">
                  <a:pos x="csX4" y="csY4"/>
                </a:cxn>
              </a:cxnLst>
              <a:rect l="l" t="t" r="r" b="b"/>
              <a:pathLst>
                <a:path w="5044582" h="2306077">
                  <a:moveTo>
                    <a:pt x="0" y="0"/>
                  </a:moveTo>
                  <a:lnTo>
                    <a:pt x="5044582" y="0"/>
                  </a:lnTo>
                  <a:lnTo>
                    <a:pt x="5044582" y="2306077"/>
                  </a:lnTo>
                  <a:lnTo>
                    <a:pt x="0" y="2306077"/>
                  </a:lnTo>
                  <a:lnTo>
                    <a:pt x="0" y="0"/>
                  </a:lnTo>
                  <a:close/>
                </a:path>
              </a:pathLst>
            </a:custGeom>
            <a:solidFill>
              <a:srgbClr val="7F7F7F"/>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endParaRPr lang="en-IN" sz="2000" kern="1200" dirty="0">
                <a:solidFill>
                  <a:schemeClr val="bg1"/>
                </a:solidFill>
                <a:latin typeface="Montserrat" panose="00000500000000000000" pitchFamily="2" charset="0"/>
              </a:endParaRPr>
            </a:p>
          </p:txBody>
        </p:sp>
        <p:sp>
          <p:nvSpPr>
            <p:cNvPr id="8" name="Freeform: Shape 7"/>
            <p:cNvSpPr/>
            <p:nvPr/>
          </p:nvSpPr>
          <p:spPr bwMode="white">
            <a:xfrm>
              <a:off x="6290664" y="1024794"/>
              <a:ext cx="4518912" cy="1981340"/>
            </a:xfrm>
            <a:custGeom>
              <a:avLst/>
              <a:gdLst>
                <a:gd name="csX0" fmla="*/ 0 w 4518912"/>
                <a:gd name="csY0" fmla="*/ 0 h 2306077"/>
                <a:gd name="csX1" fmla="*/ 4518912 w 4518912"/>
                <a:gd name="csY1" fmla="*/ 0 h 2306077"/>
                <a:gd name="csX2" fmla="*/ 4518912 w 4518912"/>
                <a:gd name="csY2" fmla="*/ 2306077 h 2306077"/>
                <a:gd name="csX3" fmla="*/ 0 w 4518912"/>
                <a:gd name="csY3" fmla="*/ 2306077 h 2306077"/>
                <a:gd name="csX4" fmla="*/ 0 w 4518912"/>
                <a:gd name="csY4" fmla="*/ 0 h 2306077"/>
              </a:gdLst>
              <a:ahLst/>
              <a:cxnLst>
                <a:cxn ang="0">
                  <a:pos x="csX0" y="csY0"/>
                </a:cxn>
                <a:cxn ang="0">
                  <a:pos x="csX1" y="csY1"/>
                </a:cxn>
                <a:cxn ang="0">
                  <a:pos x="csX2" y="csY2"/>
                </a:cxn>
                <a:cxn ang="0">
                  <a:pos x="csX3" y="csY3"/>
                </a:cxn>
                <a:cxn ang="0">
                  <a:pos x="csX4" y="csY4"/>
                </a:cxn>
              </a:cxnLst>
              <a:rect l="l" t="t" r="r" b="b"/>
              <a:pathLst>
                <a:path w="4518912" h="2306077">
                  <a:moveTo>
                    <a:pt x="0" y="0"/>
                  </a:moveTo>
                  <a:lnTo>
                    <a:pt x="4518912" y="0"/>
                  </a:lnTo>
                  <a:lnTo>
                    <a:pt x="4518912" y="2306077"/>
                  </a:lnTo>
                  <a:lnTo>
                    <a:pt x="0" y="2306077"/>
                  </a:lnTo>
                  <a:lnTo>
                    <a:pt x="0" y="0"/>
                  </a:lnTo>
                  <a:close/>
                </a:path>
              </a:pathLst>
            </a:custGeom>
            <a:solidFill>
              <a:srgbClr val="7F7F7F"/>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endParaRPr lang="en-IN" sz="1400" kern="1200" dirty="0">
                <a:solidFill>
                  <a:schemeClr val="bg1"/>
                </a:solidFill>
                <a:latin typeface="Montserrat" panose="00000500000000000000" pitchFamily="2" charset="0"/>
              </a:endParaRPr>
            </a:p>
          </p:txBody>
        </p:sp>
        <p:sp>
          <p:nvSpPr>
            <p:cNvPr id="2" name="TextBox 1"/>
            <p:cNvSpPr txBox="1"/>
            <p:nvPr/>
          </p:nvSpPr>
          <p:spPr>
            <a:xfrm>
              <a:off x="1184438" y="1158151"/>
              <a:ext cx="4818633" cy="1605630"/>
            </a:xfrm>
            <a:prstGeom prst="rect">
              <a:avLst/>
            </a:prstGeom>
            <a:noFill/>
          </p:spPr>
          <p:txBody>
            <a:bodyPr wrap="square" rtlCol="0">
              <a:spAutoFit/>
            </a:bodyPr>
            <a:lstStyle/>
            <a:p>
              <a:r>
                <a:rPr lang="en-IN" dirty="0">
                  <a:solidFill>
                    <a:schemeClr val="bg1"/>
                  </a:solidFill>
                  <a:latin typeface="Montserrat" panose="00000500000000000000" pitchFamily="2" charset="0"/>
                </a:rPr>
                <a:t>Value Proposition of product/service : </a:t>
              </a:r>
              <a:endParaRPr lang="en-IN" dirty="0"/>
            </a:p>
            <a:p>
              <a:pPr marL="285750" indent="-285750">
                <a:buFont typeface="Arial" panose="020B0604020202020204" pitchFamily="34" charset="0"/>
                <a:buChar char="•"/>
              </a:pPr>
              <a:r>
                <a:rPr lang="en-US" sz="1600" dirty="0">
                  <a:solidFill>
                    <a:schemeClr val="bg1"/>
                  </a:solidFill>
                  <a:latin typeface="Montserrat" panose="00000500000000000000" pitchFamily="2" charset="0"/>
                </a:rPr>
                <a:t>Energy generation from everyday human movement</a:t>
              </a:r>
            </a:p>
            <a:p>
              <a:pPr marL="285750" indent="-285750">
                <a:buFont typeface="Arial" panose="020B0604020202020204" pitchFamily="34" charset="0"/>
                <a:buChar char="•"/>
              </a:pPr>
              <a:r>
                <a:rPr lang="en-US" sz="1600" dirty="0">
                  <a:solidFill>
                    <a:schemeClr val="bg1"/>
                  </a:solidFill>
                  <a:latin typeface="Montserrat" panose="00000500000000000000" pitchFamily="2" charset="0"/>
                </a:rPr>
                <a:t>Modular tile-based design</a:t>
              </a:r>
            </a:p>
            <a:p>
              <a:pPr marL="285750" indent="-285750">
                <a:buFont typeface="Arial" panose="020B0604020202020204" pitchFamily="34" charset="0"/>
                <a:buChar char="•"/>
              </a:pPr>
              <a:r>
                <a:rPr lang="en-US" sz="1600" dirty="0">
                  <a:solidFill>
                    <a:schemeClr val="bg1"/>
                  </a:solidFill>
                  <a:latin typeface="Montserrat" panose="00000500000000000000" pitchFamily="2" charset="0"/>
                </a:rPr>
                <a:t>No fuel, no emissions, no pollution</a:t>
              </a:r>
            </a:p>
            <a:p>
              <a:pPr marL="285750" indent="-285750">
                <a:buFont typeface="Arial" panose="020B0604020202020204" pitchFamily="34" charset="0"/>
                <a:buChar char="•"/>
              </a:pPr>
              <a:r>
                <a:rPr lang="en-US" sz="1600" dirty="0">
                  <a:solidFill>
                    <a:schemeClr val="bg1"/>
                  </a:solidFill>
                  <a:latin typeface="Montserrat" panose="00000500000000000000" pitchFamily="2" charset="0"/>
                </a:rPr>
                <a:t>Works continuously in crowded areas</a:t>
              </a:r>
              <a:endParaRPr lang="en-IN" sz="1600" dirty="0">
                <a:solidFill>
                  <a:schemeClr val="bg1"/>
                </a:solidFill>
                <a:latin typeface="Montserrat" panose="00000500000000000000" pitchFamily="2" charset="0"/>
              </a:endParaRPr>
            </a:p>
          </p:txBody>
        </p:sp>
        <p:sp>
          <p:nvSpPr>
            <p:cNvPr id="9" name="TextBox 8"/>
            <p:cNvSpPr txBox="1"/>
            <p:nvPr/>
          </p:nvSpPr>
          <p:spPr>
            <a:xfrm>
              <a:off x="6455399" y="1125211"/>
              <a:ext cx="4475183" cy="1846659"/>
            </a:xfrm>
            <a:prstGeom prst="rect">
              <a:avLst/>
            </a:prstGeom>
            <a:noFill/>
          </p:spPr>
          <p:txBody>
            <a:bodyPr wrap="square" rtlCol="0">
              <a:spAutoFit/>
            </a:bodyPr>
            <a:lstStyle/>
            <a:p>
              <a:r>
                <a:rPr lang="en-IN" dirty="0">
                  <a:solidFill>
                    <a:schemeClr val="bg1"/>
                  </a:solidFill>
                  <a:latin typeface="Montserrat" panose="00000500000000000000" pitchFamily="2" charset="0"/>
                </a:rPr>
                <a:t>Benefits/Impact will be created :</a:t>
              </a:r>
              <a:endParaRPr lang="en-US" dirty="0"/>
            </a:p>
            <a:p>
              <a:pPr marL="285750" indent="-285750">
                <a:buFont typeface="Arial" panose="020B0604020202020204" pitchFamily="34" charset="0"/>
                <a:buChar char="•"/>
              </a:pPr>
              <a:r>
                <a:rPr lang="en-US" sz="1600" dirty="0">
                  <a:solidFill>
                    <a:schemeClr val="bg1"/>
                  </a:solidFill>
                  <a:latin typeface="Montserrat" panose="00000500000000000000" pitchFamily="2" charset="0"/>
                </a:rPr>
                <a:t>Clean and renewable energy generation</a:t>
              </a:r>
            </a:p>
            <a:p>
              <a:pPr marL="285750" indent="-285750">
                <a:buFont typeface="Arial" panose="020B0604020202020204" pitchFamily="34" charset="0"/>
                <a:buChar char="•"/>
              </a:pPr>
              <a:r>
                <a:rPr lang="en-US" sz="1600" dirty="0">
                  <a:solidFill>
                    <a:schemeClr val="bg1"/>
                  </a:solidFill>
                  <a:latin typeface="Montserrat" panose="00000500000000000000" pitchFamily="2" charset="0"/>
                </a:rPr>
                <a:t>Reduced electricity costs</a:t>
              </a:r>
            </a:p>
            <a:p>
              <a:pPr marL="285750" indent="-285750">
                <a:buFont typeface="Arial" panose="020B0604020202020204" pitchFamily="34" charset="0"/>
                <a:buChar char="•"/>
              </a:pPr>
              <a:r>
                <a:rPr lang="en-US" sz="1600" dirty="0">
                  <a:solidFill>
                    <a:schemeClr val="bg1"/>
                  </a:solidFill>
                  <a:latin typeface="Montserrat" panose="00000500000000000000" pitchFamily="2" charset="0"/>
                </a:rPr>
                <a:t>Supports smart city initiatives</a:t>
              </a:r>
            </a:p>
            <a:p>
              <a:pPr marL="285750" indent="-285750">
                <a:buFont typeface="Arial" panose="020B0604020202020204" pitchFamily="34" charset="0"/>
                <a:buChar char="•"/>
              </a:pPr>
              <a:r>
                <a:rPr lang="en-US" sz="1600" dirty="0">
                  <a:solidFill>
                    <a:schemeClr val="bg1"/>
                  </a:solidFill>
                  <a:latin typeface="Montserrat" panose="00000500000000000000" pitchFamily="2" charset="0"/>
                </a:rPr>
                <a:t>Encourages sustainable living</a:t>
              </a:r>
            </a:p>
            <a:p>
              <a:pPr marL="285750" indent="-285750">
                <a:buFont typeface="Arial" panose="020B0604020202020204" pitchFamily="34" charset="0"/>
                <a:buChar char="•"/>
              </a:pPr>
              <a:r>
                <a:rPr lang="en-US" sz="1600" dirty="0">
                  <a:solidFill>
                    <a:schemeClr val="bg1"/>
                  </a:solidFill>
                  <a:latin typeface="Montserrat" panose="00000500000000000000" pitchFamily="2" charset="0"/>
                </a:rPr>
                <a:t>Efficient utilization of wasted energy</a:t>
              </a:r>
              <a:endParaRPr lang="en-IN" sz="1600" dirty="0">
                <a:solidFill>
                  <a:schemeClr val="bg1"/>
                </a:solidFill>
                <a:latin typeface="Montserrat" panose="00000500000000000000" pitchFamily="2" charset="0"/>
              </a:endParaRPr>
            </a:p>
          </p:txBody>
        </p:sp>
        <p:pic>
          <p:nvPicPr>
            <p:cNvPr id="11" name="Picture 10"/>
            <p:cNvPicPr>
              <a:picLocks noChangeAspect="1"/>
            </p:cNvPicPr>
            <p:nvPr/>
          </p:nvPicPr>
          <p:blipFill>
            <a:blip r:embed="rId2">
              <a:extLst>
                <a:ext uri="{28A0092B-C50C-407E-A947-70E740481C1C}">
                  <a14:useLocalDpi xmlns:a14="http://schemas.microsoft.com/office/drawing/2010/main" val="0"/>
                </a:ext>
              </a:extLst>
            </a:blip>
            <a:srcRect t="34036" b="2884"/>
            <a:stretch>
              <a:fillRect/>
            </a:stretch>
          </p:blipFill>
          <p:spPr>
            <a:xfrm>
              <a:off x="1029881" y="3070679"/>
              <a:ext cx="9964342" cy="2482948"/>
            </a:xfrm>
            <a:prstGeom prst="rect">
              <a:avLst/>
            </a:prstGeom>
          </p:spPr>
        </p:pic>
        <p:sp>
          <p:nvSpPr>
            <p:cNvPr id="12" name="TextBox 11"/>
            <p:cNvSpPr txBox="1"/>
            <p:nvPr/>
          </p:nvSpPr>
          <p:spPr>
            <a:xfrm>
              <a:off x="1872833" y="5987085"/>
              <a:ext cx="8835661" cy="369332"/>
            </a:xfrm>
            <a:prstGeom prst="rect">
              <a:avLst/>
            </a:prstGeom>
            <a:noFill/>
          </p:spPr>
          <p:txBody>
            <a:bodyPr wrap="square" rtlCol="0">
              <a:spAutoFit/>
            </a:bodyPr>
            <a:lstStyle/>
            <a:p>
              <a:r>
                <a:rPr lang="en-IN" dirty="0">
                  <a:hlinkClick r:id="rId3"/>
                </a:rPr>
                <a:t>https://drive.google.com/file/d/11yjVr5r_Jtw9HyfuuD8DnmPXptCE4yhQ/view?usp=drivesdk</a:t>
              </a:r>
              <a:endParaRPr lang="en-IN" dirty="0"/>
            </a:p>
          </p:txBody>
        </p:sp>
        <p:sp>
          <p:nvSpPr>
            <p:cNvPr id="13" name="TextBox 12"/>
            <p:cNvSpPr txBox="1"/>
            <p:nvPr/>
          </p:nvSpPr>
          <p:spPr>
            <a:xfrm>
              <a:off x="677235" y="5727659"/>
              <a:ext cx="1793730" cy="338554"/>
            </a:xfrm>
            <a:prstGeom prst="rect">
              <a:avLst/>
            </a:prstGeom>
            <a:noFill/>
          </p:spPr>
          <p:txBody>
            <a:bodyPr wrap="square" rtlCol="0">
              <a:spAutoFit/>
            </a:bodyPr>
            <a:lstStyle/>
            <a:p>
              <a:r>
                <a:rPr lang="en-US" sz="1600" dirty="0">
                  <a:solidFill>
                    <a:schemeClr val="bg1"/>
                  </a:solidFill>
                  <a:latin typeface="Montserrat" panose="00000500000000000000" pitchFamily="2" charset="0"/>
                </a:rPr>
                <a:t>POC Video :</a:t>
              </a:r>
              <a:endParaRPr lang="en-IN" sz="1600" dirty="0">
                <a:solidFill>
                  <a:schemeClr val="bg1"/>
                </a:solidFill>
                <a:latin typeface="Montserrat" panose="00000500000000000000" pitchFamily="2" charset="0"/>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3"/>
          <p:cNvSpPr txBox="1"/>
          <p:nvPr/>
        </p:nvSpPr>
        <p:spPr>
          <a:xfrm>
            <a:off x="191032" y="474269"/>
            <a:ext cx="11804233" cy="683264"/>
          </a:xfrm>
          <a:prstGeom prst="rect">
            <a:avLst/>
          </a:prstGeom>
          <a:noFill/>
        </p:spPr>
        <p:txBody>
          <a:bodyPr wrap="square" rtlCol="0">
            <a:spAutoFit/>
          </a:bodyPr>
          <a:lstStyle>
            <a:defPPr>
              <a:defRPr lang="en-US"/>
            </a:defPPr>
            <a:lvl1pPr>
              <a:lnSpc>
                <a:spcPct val="80000"/>
              </a:lnSpc>
              <a:defRPr sz="6000">
                <a:solidFill>
                  <a:schemeClr val="bg1"/>
                </a:solidFill>
                <a:latin typeface="Montserrat" panose="00000500000000000000" pitchFamily="2" charset="0"/>
                <a:cs typeface="Montserrat" panose="00000500000000000000" pitchFamily="2" charset="0"/>
              </a:defRPr>
            </a:lvl1pPr>
          </a:lstStyle>
          <a:p>
            <a:pPr algn="ctr"/>
            <a:r>
              <a:rPr lang="en-IN" sz="4800" b="1" dirty="0">
                <a:solidFill>
                  <a:srgbClr val="545454"/>
                </a:solidFill>
              </a:rPr>
              <a:t>5. Market &amp; Opportunity</a:t>
            </a:r>
            <a:endParaRPr lang="id-ID" sz="4800" b="1" dirty="0">
              <a:gradFill>
                <a:gsLst>
                  <a:gs pos="0">
                    <a:schemeClr val="accent1"/>
                  </a:gs>
                  <a:gs pos="100000">
                    <a:schemeClr val="accent4"/>
                  </a:gs>
                </a:gsLst>
                <a:lin ang="2700000" scaled="1"/>
              </a:gradFill>
            </a:endParaRPr>
          </a:p>
        </p:txBody>
      </p:sp>
      <p:sp>
        <p:nvSpPr>
          <p:cNvPr id="6" name="Rectangle 5"/>
          <p:cNvSpPr/>
          <p:nvPr/>
        </p:nvSpPr>
        <p:spPr>
          <a:xfrm>
            <a:off x="783035" y="1747416"/>
            <a:ext cx="10608370" cy="4996634"/>
          </a:xfrm>
          <a:prstGeom prst="rect">
            <a:avLst/>
          </a:prstGeom>
          <a:noFill/>
        </p:spPr>
        <p:txBody>
          <a:bodyPr/>
          <a:lstStyle/>
          <a:p>
            <a:endParaRPr lang="en-IN"/>
          </a:p>
        </p:txBody>
      </p:sp>
      <p:grpSp>
        <p:nvGrpSpPr>
          <p:cNvPr id="13" name="Group 12"/>
          <p:cNvGrpSpPr/>
          <p:nvPr/>
        </p:nvGrpSpPr>
        <p:grpSpPr>
          <a:xfrm>
            <a:off x="929902" y="1338034"/>
            <a:ext cx="10526155" cy="5103100"/>
            <a:chOff x="929902" y="1338034"/>
            <a:chExt cx="10526155" cy="5103100"/>
          </a:xfrm>
        </p:grpSpPr>
        <p:cxnSp>
          <p:nvCxnSpPr>
            <p:cNvPr id="37" name="Straight Connector 36"/>
            <p:cNvCxnSpPr/>
            <p:nvPr/>
          </p:nvCxnSpPr>
          <p:spPr>
            <a:xfrm>
              <a:off x="5185754" y="1465049"/>
              <a:ext cx="1390650" cy="0"/>
            </a:xfrm>
            <a:prstGeom prst="line">
              <a:avLst/>
            </a:prstGeom>
            <a:ln w="254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7" name="Freeform: Shape 6"/>
            <p:cNvSpPr/>
            <p:nvPr/>
          </p:nvSpPr>
          <p:spPr bwMode="white">
            <a:xfrm>
              <a:off x="929902" y="1338034"/>
              <a:ext cx="5098044" cy="2477219"/>
            </a:xfrm>
            <a:custGeom>
              <a:avLst/>
              <a:gdLst>
                <a:gd name="csX0" fmla="*/ 0 w 5098044"/>
                <a:gd name="csY0" fmla="*/ 0 h 2302969"/>
                <a:gd name="csX1" fmla="*/ 5098044 w 5098044"/>
                <a:gd name="csY1" fmla="*/ 0 h 2302969"/>
                <a:gd name="csX2" fmla="*/ 5098044 w 5098044"/>
                <a:gd name="csY2" fmla="*/ 2302969 h 2302969"/>
                <a:gd name="csX3" fmla="*/ 0 w 5098044"/>
                <a:gd name="csY3" fmla="*/ 2302969 h 2302969"/>
                <a:gd name="csX4" fmla="*/ 0 w 5098044"/>
                <a:gd name="csY4" fmla="*/ 0 h 2302969"/>
              </a:gdLst>
              <a:ahLst/>
              <a:cxnLst>
                <a:cxn ang="0">
                  <a:pos x="csX0" y="csY0"/>
                </a:cxn>
                <a:cxn ang="0">
                  <a:pos x="csX1" y="csY1"/>
                </a:cxn>
                <a:cxn ang="0">
                  <a:pos x="csX2" y="csY2"/>
                </a:cxn>
                <a:cxn ang="0">
                  <a:pos x="csX3" y="csY3"/>
                </a:cxn>
                <a:cxn ang="0">
                  <a:pos x="csX4" y="csY4"/>
                </a:cxn>
              </a:cxnLst>
              <a:rect l="l" t="t" r="r" b="b"/>
              <a:pathLst>
                <a:path w="5098044" h="2302969">
                  <a:moveTo>
                    <a:pt x="0" y="0"/>
                  </a:moveTo>
                  <a:lnTo>
                    <a:pt x="5098044" y="0"/>
                  </a:lnTo>
                  <a:lnTo>
                    <a:pt x="5098044" y="2302969"/>
                  </a:lnTo>
                  <a:lnTo>
                    <a:pt x="0" y="2302969"/>
                  </a:lnTo>
                  <a:lnTo>
                    <a:pt x="0" y="0"/>
                  </a:lnTo>
                  <a:close/>
                </a:path>
              </a:pathLst>
            </a:custGeom>
            <a:solidFill>
              <a:srgbClr val="7F7F7F"/>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53340" tIns="53340" rIns="53340" bIns="53340" numCol="1" spcCol="1270" anchor="ctr" anchorCtr="0">
              <a:noAutofit/>
            </a:bodyPr>
            <a:lstStyle/>
            <a:p>
              <a:pPr marL="0" lvl="0" indent="0" algn="l" defTabSz="622300">
                <a:lnSpc>
                  <a:spcPct val="150000"/>
                </a:lnSpc>
                <a:spcBef>
                  <a:spcPct val="0"/>
                </a:spcBef>
                <a:spcAft>
                  <a:spcPct val="35000"/>
                </a:spcAft>
                <a:buNone/>
              </a:pPr>
              <a:endParaRPr lang="en-IN" sz="1400" b="0" i="0" kern="1200" dirty="0">
                <a:latin typeface="Montserrat" panose="00000500000000000000" pitchFamily="2" charset="0"/>
              </a:endParaRPr>
            </a:p>
          </p:txBody>
        </p:sp>
        <p:sp>
          <p:nvSpPr>
            <p:cNvPr id="8" name="Freeform: Shape 7"/>
            <p:cNvSpPr/>
            <p:nvPr/>
          </p:nvSpPr>
          <p:spPr bwMode="white">
            <a:xfrm>
              <a:off x="6279072" y="1338034"/>
              <a:ext cx="5098044" cy="2477219"/>
            </a:xfrm>
            <a:custGeom>
              <a:avLst/>
              <a:gdLst>
                <a:gd name="csX0" fmla="*/ 0 w 5098044"/>
                <a:gd name="csY0" fmla="*/ 0 h 2302969"/>
                <a:gd name="csX1" fmla="*/ 5098044 w 5098044"/>
                <a:gd name="csY1" fmla="*/ 0 h 2302969"/>
                <a:gd name="csX2" fmla="*/ 5098044 w 5098044"/>
                <a:gd name="csY2" fmla="*/ 2302969 h 2302969"/>
                <a:gd name="csX3" fmla="*/ 0 w 5098044"/>
                <a:gd name="csY3" fmla="*/ 2302969 h 2302969"/>
                <a:gd name="csX4" fmla="*/ 0 w 5098044"/>
                <a:gd name="csY4" fmla="*/ 0 h 2302969"/>
              </a:gdLst>
              <a:ahLst/>
              <a:cxnLst>
                <a:cxn ang="0">
                  <a:pos x="csX0" y="csY0"/>
                </a:cxn>
                <a:cxn ang="0">
                  <a:pos x="csX1" y="csY1"/>
                </a:cxn>
                <a:cxn ang="0">
                  <a:pos x="csX2" y="csY2"/>
                </a:cxn>
                <a:cxn ang="0">
                  <a:pos x="csX3" y="csY3"/>
                </a:cxn>
                <a:cxn ang="0">
                  <a:pos x="csX4" y="csY4"/>
                </a:cxn>
              </a:cxnLst>
              <a:rect l="l" t="t" r="r" b="b"/>
              <a:pathLst>
                <a:path w="5098044" h="2302969">
                  <a:moveTo>
                    <a:pt x="0" y="0"/>
                  </a:moveTo>
                  <a:lnTo>
                    <a:pt x="5098044" y="0"/>
                  </a:lnTo>
                  <a:lnTo>
                    <a:pt x="5098044" y="2302969"/>
                  </a:lnTo>
                  <a:lnTo>
                    <a:pt x="0" y="2302969"/>
                  </a:lnTo>
                  <a:lnTo>
                    <a:pt x="0" y="0"/>
                  </a:lnTo>
                  <a:close/>
                </a:path>
              </a:pathLst>
            </a:custGeom>
            <a:solidFill>
              <a:schemeClr val="tx1">
                <a:lumMod val="50000"/>
                <a:lumOff val="5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endParaRPr lang="en-IN" sz="1400" b="0" i="0" kern="1200" dirty="0">
                <a:latin typeface="Montserrat" panose="00000500000000000000" pitchFamily="2" charset="0"/>
              </a:endParaRPr>
            </a:p>
          </p:txBody>
        </p:sp>
        <p:sp>
          <p:nvSpPr>
            <p:cNvPr id="3" name="TextBox 2"/>
            <p:cNvSpPr txBox="1"/>
            <p:nvPr/>
          </p:nvSpPr>
          <p:spPr>
            <a:xfrm>
              <a:off x="984902" y="1402420"/>
              <a:ext cx="4913740" cy="2312813"/>
            </a:xfrm>
            <a:prstGeom prst="rect">
              <a:avLst/>
            </a:prstGeom>
            <a:noFill/>
          </p:spPr>
          <p:txBody>
            <a:bodyPr wrap="square" rtlCol="0">
              <a:spAutoFit/>
            </a:bodyPr>
            <a:lstStyle/>
            <a:p>
              <a:pPr lvl="0">
                <a:lnSpc>
                  <a:spcPct val="150000"/>
                </a:lnSpc>
              </a:pPr>
              <a:r>
                <a:rPr lang="en-IN" dirty="0">
                  <a:solidFill>
                    <a:schemeClr val="bg1"/>
                  </a:solidFill>
                  <a:latin typeface="Montserrat" panose="00000500000000000000" pitchFamily="2" charset="0"/>
                </a:rPr>
                <a:t>Total Addressable Market:</a:t>
              </a:r>
              <a:endParaRPr lang="en-US" dirty="0">
                <a:solidFill>
                  <a:schemeClr val="bg1"/>
                </a:solidFill>
                <a:latin typeface="Montserrat" panose="00000500000000000000" pitchFamily="2" charset="0"/>
              </a:endParaRPr>
            </a:p>
            <a:p>
              <a:pPr marL="285750" lvl="0" indent="-285750">
                <a:lnSpc>
                  <a:spcPct val="150000"/>
                </a:lnSpc>
                <a:buFont typeface="Arial" panose="020B0604020202020204" pitchFamily="34" charset="0"/>
                <a:buChar char="•"/>
              </a:pPr>
              <a:r>
                <a:rPr lang="en-US" sz="1600" dirty="0">
                  <a:solidFill>
                    <a:schemeClr val="bg1"/>
                  </a:solidFill>
                  <a:latin typeface="Montserrat" panose="00000500000000000000" pitchFamily="2" charset="0"/>
                </a:rPr>
                <a:t>Global smart city and renewable energy infrastructure
Includes all commercial &amp; public buildings</a:t>
              </a:r>
            </a:p>
            <a:p>
              <a:pPr marL="285750" lvl="0" indent="-285750">
                <a:lnSpc>
                  <a:spcPct val="150000"/>
                </a:lnSpc>
                <a:buFont typeface="Arial" panose="020B0604020202020204" pitchFamily="34" charset="0"/>
                <a:buChar char="•"/>
              </a:pPr>
              <a:r>
                <a:rPr lang="en-US" sz="1600" dirty="0">
                  <a:solidFill>
                    <a:schemeClr val="bg1"/>
                  </a:solidFill>
                  <a:latin typeface="Montserrat" panose="00000500000000000000" pitchFamily="2" charset="0"/>
                </a:rPr>
                <a:t>Driven by sustainability and energy-efficiency needs</a:t>
              </a:r>
              <a:endParaRPr lang="en-IN" sz="1600" dirty="0">
                <a:solidFill>
                  <a:schemeClr val="bg1"/>
                </a:solidFill>
                <a:latin typeface="Montserrat" panose="00000500000000000000" pitchFamily="2" charset="0"/>
              </a:endParaRPr>
            </a:p>
          </p:txBody>
        </p:sp>
        <p:sp>
          <p:nvSpPr>
            <p:cNvPr id="10" name="TextBox 9"/>
            <p:cNvSpPr txBox="1"/>
            <p:nvPr/>
          </p:nvSpPr>
          <p:spPr>
            <a:xfrm>
              <a:off x="6389930" y="1527679"/>
              <a:ext cx="5066127" cy="2451440"/>
            </a:xfrm>
            <a:prstGeom prst="rect">
              <a:avLst/>
            </a:prstGeom>
            <a:noFill/>
          </p:spPr>
          <p:txBody>
            <a:bodyPr wrap="square" rtlCol="0">
              <a:spAutoFit/>
            </a:bodyPr>
            <a:lstStyle/>
            <a:p>
              <a:pPr lvl="0" defTabSz="889000">
                <a:lnSpc>
                  <a:spcPct val="90000"/>
                </a:lnSpc>
                <a:spcBef>
                  <a:spcPct val="0"/>
                </a:spcBef>
                <a:spcAft>
                  <a:spcPct val="35000"/>
                </a:spcAft>
              </a:pPr>
              <a:r>
                <a:rPr lang="en-IN" dirty="0">
                  <a:solidFill>
                    <a:schemeClr val="bg1"/>
                  </a:solidFill>
                  <a:latin typeface="Montserrat" panose="00000500000000000000" pitchFamily="2" charset="0"/>
                </a:rPr>
                <a:t>Serviceable Addressable Market (SAM)</a:t>
              </a:r>
            </a:p>
            <a:p>
              <a:pPr marL="285750" lvl="0" indent="-285750" defTabSz="889000">
                <a:lnSpc>
                  <a:spcPct val="150000"/>
                </a:lnSpc>
                <a:spcBef>
                  <a:spcPct val="0"/>
                </a:spcBef>
                <a:spcAft>
                  <a:spcPct val="35000"/>
                </a:spcAft>
                <a:buFont typeface="Arial" panose="020B0604020202020204" pitchFamily="34" charset="0"/>
                <a:buChar char="•"/>
              </a:pPr>
              <a:r>
                <a:rPr lang="en-US" sz="1600" dirty="0">
                  <a:solidFill>
                    <a:schemeClr val="bg1"/>
                  </a:solidFill>
                  <a:latin typeface="Montserrat" panose="00000500000000000000" pitchFamily="2" charset="0"/>
                </a:rPr>
                <a:t>High-footfall public spaces (malls, airports, metros)
Smart buildings and government projects
Urban and semi-urban deployment focus</a:t>
              </a:r>
              <a:endParaRPr lang="en-IN" sz="1600" dirty="0">
                <a:solidFill>
                  <a:schemeClr val="bg1"/>
                </a:solidFill>
                <a:latin typeface="Montserrat" panose="00000500000000000000" pitchFamily="2" charset="0"/>
              </a:endParaRPr>
            </a:p>
            <a:p>
              <a:endParaRPr lang="en-IN" dirty="0"/>
            </a:p>
          </p:txBody>
        </p:sp>
        <p:grpSp>
          <p:nvGrpSpPr>
            <p:cNvPr id="12" name="Group 11"/>
            <p:cNvGrpSpPr/>
            <p:nvPr/>
          </p:nvGrpSpPr>
          <p:grpSpPr>
            <a:xfrm>
              <a:off x="1169144" y="4004898"/>
              <a:ext cx="9853712" cy="2436236"/>
              <a:chOff x="929902" y="4097620"/>
              <a:chExt cx="9853712" cy="2436236"/>
            </a:xfrm>
          </p:grpSpPr>
          <p:sp>
            <p:nvSpPr>
              <p:cNvPr id="40" name="TextBox 39"/>
              <p:cNvSpPr txBox="1"/>
              <p:nvPr/>
            </p:nvSpPr>
            <p:spPr>
              <a:xfrm>
                <a:off x="1498085" y="5121340"/>
                <a:ext cx="904415" cy="261610"/>
              </a:xfrm>
              <a:prstGeom prst="rect">
                <a:avLst/>
              </a:prstGeom>
              <a:noFill/>
            </p:spPr>
            <p:txBody>
              <a:bodyPr wrap="none" rtlCol="0">
                <a:spAutoFit/>
              </a:bodyPr>
              <a:lstStyle/>
              <a:p>
                <a:pPr algn="ctr"/>
                <a:r>
                  <a:rPr lang="en-US" sz="1100" dirty="0">
                    <a:solidFill>
                      <a:schemeClr val="bg1"/>
                    </a:solidFill>
                  </a:rPr>
                  <a:t>LEARN NOW</a:t>
                </a:r>
              </a:p>
            </p:txBody>
          </p:sp>
          <p:sp>
            <p:nvSpPr>
              <p:cNvPr id="9" name="Freeform: Shape 8"/>
              <p:cNvSpPr/>
              <p:nvPr/>
            </p:nvSpPr>
            <p:spPr bwMode="white">
              <a:xfrm>
                <a:off x="929902" y="4097620"/>
                <a:ext cx="9853712" cy="2436236"/>
              </a:xfrm>
              <a:custGeom>
                <a:avLst/>
                <a:gdLst>
                  <a:gd name="csX0" fmla="*/ 0 w 10594081"/>
                  <a:gd name="csY0" fmla="*/ 0 h 2302969"/>
                  <a:gd name="csX1" fmla="*/ 10594081 w 10594081"/>
                  <a:gd name="csY1" fmla="*/ 0 h 2302969"/>
                  <a:gd name="csX2" fmla="*/ 10594081 w 10594081"/>
                  <a:gd name="csY2" fmla="*/ 2302969 h 2302969"/>
                  <a:gd name="csX3" fmla="*/ 0 w 10594081"/>
                  <a:gd name="csY3" fmla="*/ 2302969 h 2302969"/>
                  <a:gd name="csX4" fmla="*/ 0 w 10594081"/>
                  <a:gd name="csY4" fmla="*/ 0 h 2302969"/>
                </a:gdLst>
                <a:ahLst/>
                <a:cxnLst>
                  <a:cxn ang="0">
                    <a:pos x="csX0" y="csY0"/>
                  </a:cxn>
                  <a:cxn ang="0">
                    <a:pos x="csX1" y="csY1"/>
                  </a:cxn>
                  <a:cxn ang="0">
                    <a:pos x="csX2" y="csY2"/>
                  </a:cxn>
                  <a:cxn ang="0">
                    <a:pos x="csX3" y="csY3"/>
                  </a:cxn>
                  <a:cxn ang="0">
                    <a:pos x="csX4" y="csY4"/>
                  </a:cxn>
                </a:cxnLst>
                <a:rect l="l" t="t" r="r" b="b"/>
                <a:pathLst>
                  <a:path w="10594081" h="2302969">
                    <a:moveTo>
                      <a:pt x="0" y="0"/>
                    </a:moveTo>
                    <a:lnTo>
                      <a:pt x="10594081" y="0"/>
                    </a:lnTo>
                    <a:lnTo>
                      <a:pt x="10594081" y="2302969"/>
                    </a:lnTo>
                    <a:lnTo>
                      <a:pt x="0" y="2302969"/>
                    </a:lnTo>
                    <a:lnTo>
                      <a:pt x="0" y="0"/>
                    </a:lnTo>
                    <a:close/>
                  </a:path>
                </a:pathLst>
              </a:custGeom>
              <a:solidFill>
                <a:srgbClr val="F04034"/>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endParaRPr lang="en-US" sz="2000" b="0" i="0" kern="1200" dirty="0">
                  <a:latin typeface="Montserrat" panose="00000500000000000000" pitchFamily="2" charset="0"/>
                </a:endParaRPr>
              </a:p>
              <a:p>
                <a:pPr marL="0" lvl="0" indent="0" algn="l" defTabSz="889000">
                  <a:lnSpc>
                    <a:spcPct val="90000"/>
                  </a:lnSpc>
                  <a:spcBef>
                    <a:spcPct val="0"/>
                  </a:spcBef>
                  <a:spcAft>
                    <a:spcPct val="35000"/>
                  </a:spcAft>
                  <a:buNone/>
                </a:pPr>
                <a:endParaRPr lang="en-US" sz="2400" b="0" i="0" kern="1200" dirty="0">
                  <a:latin typeface="Montserrat" panose="00000500000000000000" pitchFamily="2" charset="0"/>
                </a:endParaRPr>
              </a:p>
            </p:txBody>
          </p:sp>
          <p:sp>
            <p:nvSpPr>
              <p:cNvPr id="11" name="TextBox 10"/>
              <p:cNvSpPr txBox="1"/>
              <p:nvPr/>
            </p:nvSpPr>
            <p:spPr>
              <a:xfrm>
                <a:off x="1292828" y="4305116"/>
                <a:ext cx="9176502" cy="2015936"/>
              </a:xfrm>
              <a:prstGeom prst="rect">
                <a:avLst/>
              </a:prstGeom>
              <a:noFill/>
            </p:spPr>
            <p:txBody>
              <a:bodyPr wrap="square" rtlCol="0">
                <a:spAutoFit/>
              </a:bodyPr>
              <a:lstStyle/>
              <a:p>
                <a:pPr lvl="0" defTabSz="889000">
                  <a:lnSpc>
                    <a:spcPct val="90000"/>
                  </a:lnSpc>
                  <a:spcBef>
                    <a:spcPct val="0"/>
                  </a:spcBef>
                  <a:spcAft>
                    <a:spcPct val="35000"/>
                  </a:spcAft>
                </a:pPr>
                <a:r>
                  <a:rPr lang="en-US" dirty="0">
                    <a:solidFill>
                      <a:schemeClr val="bg1"/>
                    </a:solidFill>
                    <a:latin typeface="Montserrat" panose="00000500000000000000" pitchFamily="2" charset="0"/>
                  </a:rPr>
                  <a:t>Target Market - The portion of SAM that you can capture :</a:t>
                </a:r>
              </a:p>
              <a:p>
                <a:pPr lvl="0" defTabSz="889000">
                  <a:lnSpc>
                    <a:spcPct val="90000"/>
                  </a:lnSpc>
                  <a:spcBef>
                    <a:spcPct val="0"/>
                  </a:spcBef>
                  <a:spcAft>
                    <a:spcPct val="35000"/>
                  </a:spcAft>
                </a:pPr>
                <a:r>
                  <a:rPr lang="en-US" dirty="0">
                    <a:solidFill>
                      <a:schemeClr val="bg1"/>
                    </a:solidFill>
                    <a:latin typeface="Montserrat" panose="00000500000000000000" pitchFamily="2" charset="0"/>
                  </a:rPr>
                  <a:t>Primary/Secondary Research Data :</a:t>
                </a:r>
              </a:p>
              <a:p>
                <a:pPr marL="285750" indent="-285750">
                  <a:buFont typeface="Arial" panose="020B0604020202020204" pitchFamily="34" charset="0"/>
                  <a:buChar char="•"/>
                </a:pPr>
                <a:r>
                  <a:rPr lang="en-US" sz="1600" dirty="0">
                    <a:solidFill>
                      <a:schemeClr val="bg1"/>
                    </a:solidFill>
                    <a:latin typeface="Montserrat" panose="00000500000000000000" pitchFamily="2" charset="0"/>
                  </a:rPr>
                  <a:t>Primary Research: Surveys, interviews, or observations from potential users in smart buildings, malls, and campuses.</a:t>
                </a:r>
              </a:p>
              <a:p>
                <a:endParaRPr lang="en-US" sz="1600" dirty="0">
                  <a:solidFill>
                    <a:schemeClr val="bg1"/>
                  </a:solidFill>
                  <a:latin typeface="Montserrat" panose="00000500000000000000" pitchFamily="2" charset="0"/>
                </a:endParaRPr>
              </a:p>
              <a:p>
                <a:pPr marL="285750" indent="-285750">
                  <a:buFont typeface="Arial" panose="020B0604020202020204" pitchFamily="34" charset="0"/>
                  <a:buChar char="•"/>
                </a:pPr>
                <a:r>
                  <a:rPr lang="en-US" sz="1600" dirty="0">
                    <a:solidFill>
                      <a:schemeClr val="bg1"/>
                    </a:solidFill>
                    <a:latin typeface="Montserrat" panose="00000500000000000000" pitchFamily="2" charset="0"/>
                  </a:rPr>
                  <a:t>Secondary Research: Industry reports, market studies, and published data on energy harvesting adoption and trends.</a:t>
                </a:r>
                <a:endParaRPr lang="en-IN" sz="1600" dirty="0">
                  <a:solidFill>
                    <a:schemeClr val="bg1"/>
                  </a:solidFill>
                  <a:latin typeface="Montserrat" panose="00000500000000000000" pitchFamily="2" charset="0"/>
                </a:endParaRPr>
              </a:p>
            </p:txBody>
          </p:sp>
        </p:gr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TextBox 39"/>
          <p:cNvSpPr txBox="1"/>
          <p:nvPr/>
        </p:nvSpPr>
        <p:spPr>
          <a:xfrm>
            <a:off x="1498085" y="5121340"/>
            <a:ext cx="904415" cy="261610"/>
          </a:xfrm>
          <a:prstGeom prst="rect">
            <a:avLst/>
          </a:prstGeom>
          <a:noFill/>
        </p:spPr>
        <p:txBody>
          <a:bodyPr wrap="none" rtlCol="0">
            <a:spAutoFit/>
          </a:bodyPr>
          <a:lstStyle/>
          <a:p>
            <a:pPr algn="ctr"/>
            <a:r>
              <a:rPr lang="en-US" sz="1100" dirty="0">
                <a:solidFill>
                  <a:schemeClr val="bg1"/>
                </a:solidFill>
              </a:rPr>
              <a:t>LEARN NOW</a:t>
            </a:r>
          </a:p>
        </p:txBody>
      </p:sp>
      <p:sp>
        <p:nvSpPr>
          <p:cNvPr id="22" name="Title 3"/>
          <p:cNvSpPr txBox="1"/>
          <p:nvPr/>
        </p:nvSpPr>
        <p:spPr>
          <a:xfrm>
            <a:off x="752475" y="474269"/>
            <a:ext cx="10687050" cy="683264"/>
          </a:xfrm>
          <a:prstGeom prst="rect">
            <a:avLst/>
          </a:prstGeom>
          <a:noFill/>
        </p:spPr>
        <p:txBody>
          <a:bodyPr wrap="square" rtlCol="0">
            <a:spAutoFit/>
          </a:bodyPr>
          <a:lstStyle>
            <a:defPPr>
              <a:defRPr lang="en-US"/>
            </a:defPPr>
            <a:lvl1pPr>
              <a:lnSpc>
                <a:spcPct val="80000"/>
              </a:lnSpc>
              <a:defRPr sz="6000">
                <a:solidFill>
                  <a:schemeClr val="bg1"/>
                </a:solidFill>
                <a:latin typeface="Montserrat" panose="00000500000000000000" pitchFamily="2" charset="0"/>
                <a:cs typeface="Montserrat" panose="00000500000000000000" pitchFamily="2" charset="0"/>
              </a:defRPr>
            </a:lvl1pPr>
          </a:lstStyle>
          <a:p>
            <a:pPr algn="ctr"/>
            <a:r>
              <a:rPr lang="en-IN" sz="4800" b="1" dirty="0">
                <a:solidFill>
                  <a:srgbClr val="545454"/>
                </a:solidFill>
              </a:rPr>
              <a:t>6. The Technology/Innovation</a:t>
            </a:r>
            <a:endParaRPr lang="id-ID" sz="4800" b="1" dirty="0">
              <a:gradFill>
                <a:gsLst>
                  <a:gs pos="0">
                    <a:schemeClr val="accent1"/>
                  </a:gs>
                  <a:gs pos="100000">
                    <a:schemeClr val="accent4"/>
                  </a:gs>
                </a:gsLst>
                <a:lin ang="2700000" scaled="1"/>
              </a:gradFill>
            </a:endParaRPr>
          </a:p>
        </p:txBody>
      </p:sp>
      <p:sp>
        <p:nvSpPr>
          <p:cNvPr id="6" name="Rectangle 5"/>
          <p:cNvSpPr/>
          <p:nvPr/>
        </p:nvSpPr>
        <p:spPr>
          <a:xfrm>
            <a:off x="791815" y="1611271"/>
            <a:ext cx="10608370" cy="4996634"/>
          </a:xfrm>
          <a:prstGeom prst="rect">
            <a:avLst/>
          </a:prstGeom>
          <a:noFill/>
        </p:spPr>
        <p:txBody>
          <a:bodyPr/>
          <a:lstStyle/>
          <a:p>
            <a:endParaRPr lang="en-IN"/>
          </a:p>
        </p:txBody>
      </p:sp>
      <p:sp>
        <p:nvSpPr>
          <p:cNvPr id="9" name="Freeform: Shape 8"/>
          <p:cNvSpPr/>
          <p:nvPr/>
        </p:nvSpPr>
        <p:spPr bwMode="white">
          <a:xfrm>
            <a:off x="791815" y="3774379"/>
            <a:ext cx="10594081" cy="2623332"/>
          </a:xfrm>
          <a:custGeom>
            <a:avLst/>
            <a:gdLst>
              <a:gd name="csX0" fmla="*/ 0 w 10594081"/>
              <a:gd name="csY0" fmla="*/ 0 h 2302969"/>
              <a:gd name="csX1" fmla="*/ 10594081 w 10594081"/>
              <a:gd name="csY1" fmla="*/ 0 h 2302969"/>
              <a:gd name="csX2" fmla="*/ 10594081 w 10594081"/>
              <a:gd name="csY2" fmla="*/ 2302969 h 2302969"/>
              <a:gd name="csX3" fmla="*/ 0 w 10594081"/>
              <a:gd name="csY3" fmla="*/ 2302969 h 2302969"/>
              <a:gd name="csX4" fmla="*/ 0 w 10594081"/>
              <a:gd name="csY4" fmla="*/ 0 h 2302969"/>
            </a:gdLst>
            <a:ahLst/>
            <a:cxnLst>
              <a:cxn ang="0">
                <a:pos x="csX0" y="csY0"/>
              </a:cxn>
              <a:cxn ang="0">
                <a:pos x="csX1" y="csY1"/>
              </a:cxn>
              <a:cxn ang="0">
                <a:pos x="csX2" y="csY2"/>
              </a:cxn>
              <a:cxn ang="0">
                <a:pos x="csX3" y="csY3"/>
              </a:cxn>
              <a:cxn ang="0">
                <a:pos x="csX4" y="csY4"/>
              </a:cxn>
            </a:cxnLst>
            <a:rect l="l" t="t" r="r" b="b"/>
            <a:pathLst>
              <a:path w="10594081" h="2302969">
                <a:moveTo>
                  <a:pt x="0" y="0"/>
                </a:moveTo>
                <a:lnTo>
                  <a:pt x="10594081" y="0"/>
                </a:lnTo>
                <a:lnTo>
                  <a:pt x="10594081" y="2302969"/>
                </a:lnTo>
                <a:lnTo>
                  <a:pt x="0" y="2302969"/>
                </a:lnTo>
                <a:lnTo>
                  <a:pt x="0" y="0"/>
                </a:lnTo>
                <a:close/>
              </a:path>
            </a:pathLst>
          </a:custGeom>
          <a:solidFill>
            <a:srgbClr val="F04034"/>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91440" tIns="91440" rIns="91440" bIns="91440" numCol="1" spcCol="1270" anchor="ctr" anchorCtr="0">
            <a:noAutofit/>
          </a:bodyPr>
          <a:lstStyle/>
          <a:p>
            <a:pPr marL="0" marR="0" lvl="0" indent="0" algn="l" defTabSz="914400" eaLnBrk="1" fontAlgn="auto" latinLnBrk="0" hangingPunct="1">
              <a:lnSpc>
                <a:spcPct val="100000"/>
              </a:lnSpc>
              <a:spcBef>
                <a:spcPts val="0"/>
              </a:spcBef>
              <a:spcAft>
                <a:spcPts val="0"/>
              </a:spcAft>
              <a:buClrTx/>
              <a:buSzTx/>
              <a:buFontTx/>
              <a:buNone/>
            </a:pPr>
            <a:endParaRPr lang="en-US" sz="2400" b="0" i="0" kern="1200" dirty="0">
              <a:solidFill>
                <a:schemeClr val="bg1"/>
              </a:solidFill>
              <a:latin typeface="Montserrat" panose="00000500000000000000" pitchFamily="2" charset="0"/>
            </a:endParaRPr>
          </a:p>
          <a:p>
            <a:pPr marL="0" marR="0" lvl="0" indent="0" algn="l" defTabSz="914400" eaLnBrk="1" fontAlgn="auto" latinLnBrk="0" hangingPunct="1">
              <a:lnSpc>
                <a:spcPct val="100000"/>
              </a:lnSpc>
              <a:spcBef>
                <a:spcPts val="0"/>
              </a:spcBef>
              <a:spcAft>
                <a:spcPts val="0"/>
              </a:spcAft>
              <a:buClrTx/>
              <a:buSzTx/>
              <a:buFontTx/>
              <a:buNone/>
            </a:pPr>
            <a:r>
              <a:rPr lang="en-IN" sz="2400" b="0" i="0" kern="1200" dirty="0">
                <a:solidFill>
                  <a:schemeClr val="bg1"/>
                </a:solidFill>
                <a:latin typeface="Montserrat" panose="00000500000000000000" pitchFamily="2" charset="0"/>
              </a:rPr>
              <a:t>Road Map for going forward:</a:t>
            </a:r>
          </a:p>
          <a:p>
            <a:pPr marL="0" marR="0" lvl="0" indent="0" algn="l" defTabSz="914400" eaLnBrk="1" fontAlgn="auto" latinLnBrk="0" hangingPunct="1">
              <a:lnSpc>
                <a:spcPct val="100000"/>
              </a:lnSpc>
              <a:spcBef>
                <a:spcPts val="0"/>
              </a:spcBef>
              <a:spcAft>
                <a:spcPts val="0"/>
              </a:spcAft>
              <a:buClrTx/>
              <a:buSzTx/>
              <a:buFontTx/>
              <a:buNone/>
            </a:pPr>
            <a:endParaRPr lang="en-IN" sz="2400" b="0" i="0" kern="1200" dirty="0">
              <a:solidFill>
                <a:schemeClr val="bg1"/>
              </a:solidFill>
              <a:latin typeface="Montserrat" panose="00000500000000000000" pitchFamily="2" charset="0"/>
            </a:endParaRPr>
          </a:p>
          <a:p>
            <a:pPr marL="0" marR="0" lvl="0" indent="0" algn="l" defTabSz="914400" eaLnBrk="1" fontAlgn="auto" latinLnBrk="0" hangingPunct="1">
              <a:lnSpc>
                <a:spcPct val="100000"/>
              </a:lnSpc>
              <a:spcBef>
                <a:spcPts val="0"/>
              </a:spcBef>
              <a:spcAft>
                <a:spcPts val="0"/>
              </a:spcAft>
              <a:buClrTx/>
              <a:buSzTx/>
              <a:buFontTx/>
              <a:buNone/>
            </a:pPr>
            <a:endParaRPr lang="en-IN" sz="2400" kern="1200" dirty="0">
              <a:solidFill>
                <a:schemeClr val="bg1"/>
              </a:solidFill>
              <a:latin typeface="Montserrat" panose="00000500000000000000" pitchFamily="2" charset="0"/>
            </a:endParaRPr>
          </a:p>
          <a:p>
            <a:pPr lvl="0" algn="l" defTabSz="1066800">
              <a:lnSpc>
                <a:spcPct val="90000"/>
              </a:lnSpc>
              <a:spcBef>
                <a:spcPct val="0"/>
              </a:spcBef>
              <a:spcAft>
                <a:spcPct val="35000"/>
              </a:spcAft>
              <a:buNone/>
            </a:pPr>
            <a:endParaRPr lang="en-IN" sz="2400" kern="1200" dirty="0">
              <a:solidFill>
                <a:schemeClr val="bg1"/>
              </a:solidFill>
              <a:latin typeface="Montserrat" panose="00000500000000000000" pitchFamily="2" charset="0"/>
            </a:endParaRPr>
          </a:p>
          <a:p>
            <a:pPr lvl="0" algn="l" defTabSz="1066800">
              <a:lnSpc>
                <a:spcPct val="90000"/>
              </a:lnSpc>
              <a:spcBef>
                <a:spcPct val="0"/>
              </a:spcBef>
              <a:spcAft>
                <a:spcPct val="35000"/>
              </a:spcAft>
              <a:buNone/>
            </a:pPr>
            <a:endParaRPr lang="en-IN" sz="2400" kern="1200" dirty="0">
              <a:solidFill>
                <a:schemeClr val="bg1"/>
              </a:solidFill>
              <a:latin typeface="Montserrat" panose="00000500000000000000" pitchFamily="2" charset="0"/>
            </a:endParaRPr>
          </a:p>
          <a:p>
            <a:pPr lvl="0" algn="l" defTabSz="1066800">
              <a:lnSpc>
                <a:spcPct val="90000"/>
              </a:lnSpc>
              <a:spcBef>
                <a:spcPct val="0"/>
              </a:spcBef>
              <a:spcAft>
                <a:spcPct val="35000"/>
              </a:spcAft>
              <a:buNone/>
            </a:pPr>
            <a:endParaRPr lang="en-IN" sz="2400" kern="1200" dirty="0">
              <a:solidFill>
                <a:schemeClr val="bg1"/>
              </a:solidFill>
              <a:latin typeface="Montserrat" panose="00000500000000000000" pitchFamily="2" charset="0"/>
            </a:endParaRPr>
          </a:p>
        </p:txBody>
      </p:sp>
      <p:grpSp>
        <p:nvGrpSpPr>
          <p:cNvPr id="15" name="Group 14"/>
          <p:cNvGrpSpPr/>
          <p:nvPr/>
        </p:nvGrpSpPr>
        <p:grpSpPr>
          <a:xfrm>
            <a:off x="731497" y="1254687"/>
            <a:ext cx="5304185" cy="2174313"/>
            <a:chOff x="791814" y="1647993"/>
            <a:chExt cx="5304185" cy="2174313"/>
          </a:xfrm>
        </p:grpSpPr>
        <p:sp>
          <p:nvSpPr>
            <p:cNvPr id="7" name="Freeform: Shape 6"/>
            <p:cNvSpPr/>
            <p:nvPr/>
          </p:nvSpPr>
          <p:spPr bwMode="white">
            <a:xfrm>
              <a:off x="791814" y="1647993"/>
              <a:ext cx="5304185" cy="2174313"/>
            </a:xfrm>
            <a:custGeom>
              <a:avLst/>
              <a:gdLst>
                <a:gd name="csX0" fmla="*/ 0 w 5098044"/>
                <a:gd name="csY0" fmla="*/ 0 h 2261861"/>
                <a:gd name="csX1" fmla="*/ 5098044 w 5098044"/>
                <a:gd name="csY1" fmla="*/ 0 h 2261861"/>
                <a:gd name="csX2" fmla="*/ 5098044 w 5098044"/>
                <a:gd name="csY2" fmla="*/ 2261861 h 2261861"/>
                <a:gd name="csX3" fmla="*/ 0 w 5098044"/>
                <a:gd name="csY3" fmla="*/ 2261861 h 2261861"/>
                <a:gd name="csX4" fmla="*/ 0 w 5098044"/>
                <a:gd name="csY4" fmla="*/ 0 h 2261861"/>
              </a:gdLst>
              <a:ahLst/>
              <a:cxnLst>
                <a:cxn ang="0">
                  <a:pos x="csX0" y="csY0"/>
                </a:cxn>
                <a:cxn ang="0">
                  <a:pos x="csX1" y="csY1"/>
                </a:cxn>
                <a:cxn ang="0">
                  <a:pos x="csX2" y="csY2"/>
                </a:cxn>
                <a:cxn ang="0">
                  <a:pos x="csX3" y="csY3"/>
                </a:cxn>
                <a:cxn ang="0">
                  <a:pos x="csX4" y="csY4"/>
                </a:cxn>
              </a:cxnLst>
              <a:rect l="l" t="t" r="r" b="b"/>
              <a:pathLst>
                <a:path w="5098044" h="2261861">
                  <a:moveTo>
                    <a:pt x="0" y="0"/>
                  </a:moveTo>
                  <a:lnTo>
                    <a:pt x="5098044" y="0"/>
                  </a:lnTo>
                  <a:lnTo>
                    <a:pt x="5098044" y="2261861"/>
                  </a:lnTo>
                  <a:lnTo>
                    <a:pt x="0" y="2261861"/>
                  </a:lnTo>
                  <a:lnTo>
                    <a:pt x="0" y="0"/>
                  </a:lnTo>
                  <a:close/>
                </a:path>
              </a:pathLst>
            </a:custGeom>
            <a:solidFill>
              <a:srgbClr val="7F7F7F"/>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60960" tIns="60960" rIns="60960" bIns="60960" numCol="1" spcCol="1270" anchor="ctr" anchorCtr="0">
              <a:noAutofit/>
            </a:bodyPr>
            <a:lstStyle/>
            <a:p>
              <a:pPr marL="0" lvl="0" indent="0" algn="l" defTabSz="711200">
                <a:lnSpc>
                  <a:spcPct val="100000"/>
                </a:lnSpc>
                <a:spcBef>
                  <a:spcPct val="0"/>
                </a:spcBef>
                <a:spcAft>
                  <a:spcPct val="35000"/>
                </a:spcAft>
                <a:buNone/>
              </a:pPr>
              <a:endParaRPr lang="en-IN" sz="1600" b="0" i="0" kern="1200" dirty="0">
                <a:solidFill>
                  <a:schemeClr val="bg1"/>
                </a:solidFill>
                <a:latin typeface="Montserrat" panose="00000500000000000000" pitchFamily="2" charset="0"/>
              </a:endParaRPr>
            </a:p>
          </p:txBody>
        </p:sp>
        <p:sp>
          <p:nvSpPr>
            <p:cNvPr id="2" name="TextBox 1"/>
            <p:cNvSpPr txBox="1"/>
            <p:nvPr/>
          </p:nvSpPr>
          <p:spPr>
            <a:xfrm>
              <a:off x="921532" y="1814721"/>
              <a:ext cx="5174467" cy="1877437"/>
            </a:xfrm>
            <a:prstGeom prst="rect">
              <a:avLst/>
            </a:prstGeom>
            <a:noFill/>
          </p:spPr>
          <p:txBody>
            <a:bodyPr wrap="square" rtlCol="0">
              <a:spAutoFit/>
            </a:bodyPr>
            <a:lstStyle/>
            <a:p>
              <a:r>
                <a:rPr lang="en-US" dirty="0">
                  <a:solidFill>
                    <a:schemeClr val="bg1"/>
                  </a:solidFill>
                  <a:latin typeface="Montserrat" panose="00000500000000000000" pitchFamily="2" charset="0"/>
                </a:rPr>
                <a:t>Development of Solution and TRL:</a:t>
              </a:r>
            </a:p>
            <a:p>
              <a:endParaRPr lang="en-US" dirty="0">
                <a:solidFill>
                  <a:schemeClr val="bg1"/>
                </a:solidFill>
                <a:latin typeface="Montserrat" panose="00000500000000000000" pitchFamily="2" charset="0"/>
              </a:endParaRPr>
            </a:p>
            <a:p>
              <a:r>
                <a:rPr lang="en-US" sz="1600" dirty="0">
                  <a:solidFill>
                    <a:schemeClr val="bg1"/>
                  </a:solidFill>
                  <a:latin typeface="Montserrat" panose="00000500000000000000" pitchFamily="2" charset="0"/>
                </a:rPr>
                <a:t>The solution is in the prototype/early-stage development phase at TRL 3–4, with piezoelectric sensors and power storage components tested in relevant environments for energy generation and efficiency.</a:t>
              </a:r>
              <a:endParaRPr lang="en-IN" sz="1600" dirty="0">
                <a:solidFill>
                  <a:schemeClr val="bg1"/>
                </a:solidFill>
                <a:latin typeface="Montserrat" panose="00000500000000000000" pitchFamily="2" charset="0"/>
              </a:endParaRPr>
            </a:p>
          </p:txBody>
        </p:sp>
      </p:grpSp>
      <p:grpSp>
        <p:nvGrpSpPr>
          <p:cNvPr id="16" name="Group 15"/>
          <p:cNvGrpSpPr/>
          <p:nvPr/>
        </p:nvGrpSpPr>
        <p:grpSpPr>
          <a:xfrm>
            <a:off x="6287852" y="1254687"/>
            <a:ext cx="5098044" cy="2197924"/>
            <a:chOff x="6246153" y="1618482"/>
            <a:chExt cx="5098044" cy="2197924"/>
          </a:xfrm>
        </p:grpSpPr>
        <p:sp>
          <p:nvSpPr>
            <p:cNvPr id="8" name="Freeform: Shape 7"/>
            <p:cNvSpPr/>
            <p:nvPr/>
          </p:nvSpPr>
          <p:spPr bwMode="white">
            <a:xfrm>
              <a:off x="6246153" y="1618482"/>
              <a:ext cx="5098044" cy="2197924"/>
            </a:xfrm>
            <a:custGeom>
              <a:avLst/>
              <a:gdLst>
                <a:gd name="csX0" fmla="*/ 0 w 5098044"/>
                <a:gd name="csY0" fmla="*/ 0 h 2302969"/>
                <a:gd name="csX1" fmla="*/ 5098044 w 5098044"/>
                <a:gd name="csY1" fmla="*/ 0 h 2302969"/>
                <a:gd name="csX2" fmla="*/ 5098044 w 5098044"/>
                <a:gd name="csY2" fmla="*/ 2302969 h 2302969"/>
                <a:gd name="csX3" fmla="*/ 0 w 5098044"/>
                <a:gd name="csY3" fmla="*/ 2302969 h 2302969"/>
                <a:gd name="csX4" fmla="*/ 0 w 5098044"/>
                <a:gd name="csY4" fmla="*/ 0 h 2302969"/>
              </a:gdLst>
              <a:ahLst/>
              <a:cxnLst>
                <a:cxn ang="0">
                  <a:pos x="csX0" y="csY0"/>
                </a:cxn>
                <a:cxn ang="0">
                  <a:pos x="csX1" y="csY1"/>
                </a:cxn>
                <a:cxn ang="0">
                  <a:pos x="csX2" y="csY2"/>
                </a:cxn>
                <a:cxn ang="0">
                  <a:pos x="csX3" y="csY3"/>
                </a:cxn>
                <a:cxn ang="0">
                  <a:pos x="csX4" y="csY4"/>
                </a:cxn>
              </a:cxnLst>
              <a:rect l="l" t="t" r="r" b="b"/>
              <a:pathLst>
                <a:path w="5098044" h="2302969">
                  <a:moveTo>
                    <a:pt x="0" y="0"/>
                  </a:moveTo>
                  <a:lnTo>
                    <a:pt x="5098044" y="0"/>
                  </a:lnTo>
                  <a:lnTo>
                    <a:pt x="5098044" y="2302969"/>
                  </a:lnTo>
                  <a:lnTo>
                    <a:pt x="0" y="2302969"/>
                  </a:lnTo>
                  <a:lnTo>
                    <a:pt x="0" y="0"/>
                  </a:lnTo>
                  <a:close/>
                </a:path>
              </a:pathLst>
            </a:custGeom>
            <a:solidFill>
              <a:schemeClr val="tx1">
                <a:lumMod val="50000"/>
                <a:lumOff val="5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endParaRPr lang="en-IN" sz="1400" kern="1200" dirty="0">
                <a:solidFill>
                  <a:schemeClr val="bg1"/>
                </a:solidFill>
                <a:latin typeface="Montserrat" panose="00000500000000000000" pitchFamily="2" charset="0"/>
              </a:endParaRPr>
            </a:p>
          </p:txBody>
        </p:sp>
        <p:sp>
          <p:nvSpPr>
            <p:cNvPr id="10" name="TextBox 9"/>
            <p:cNvSpPr txBox="1"/>
            <p:nvPr/>
          </p:nvSpPr>
          <p:spPr>
            <a:xfrm>
              <a:off x="6456623" y="1688708"/>
              <a:ext cx="4677103" cy="2092881"/>
            </a:xfrm>
            <a:prstGeom prst="rect">
              <a:avLst/>
            </a:prstGeom>
            <a:noFill/>
          </p:spPr>
          <p:txBody>
            <a:bodyPr wrap="square" rtlCol="0">
              <a:spAutoFit/>
            </a:bodyPr>
            <a:lstStyle/>
            <a:p>
              <a:r>
                <a:rPr lang="en-IN" dirty="0">
                  <a:solidFill>
                    <a:schemeClr val="bg1"/>
                  </a:solidFill>
                  <a:latin typeface="Montserrat" panose="00000500000000000000" pitchFamily="2" charset="0"/>
                </a:rPr>
                <a:t>Intellectual Property &amp; Innovation:</a:t>
              </a:r>
            </a:p>
            <a:p>
              <a:pPr marL="285750" indent="-285750">
                <a:buFont typeface="Arial" panose="020B0604020202020204" pitchFamily="34" charset="0"/>
                <a:buChar char="•"/>
              </a:pPr>
              <a:r>
                <a:rPr lang="en-IN" sz="1600" dirty="0">
                  <a:solidFill>
                    <a:schemeClr val="bg1"/>
                  </a:solidFill>
                  <a:latin typeface="Montserrat" panose="00000500000000000000" pitchFamily="2" charset="0"/>
                </a:rPr>
                <a:t>Unique integration of piezoelectric tiles with energy storage</a:t>
              </a:r>
            </a:p>
            <a:p>
              <a:pPr marL="285750" indent="-285750">
                <a:buFont typeface="Arial" panose="020B0604020202020204" pitchFamily="34" charset="0"/>
                <a:buChar char="•"/>
              </a:pPr>
              <a:r>
                <a:rPr lang="en-IN" sz="1600" dirty="0">
                  <a:solidFill>
                    <a:schemeClr val="bg1"/>
                  </a:solidFill>
                  <a:latin typeface="Montserrat" panose="00000500000000000000" pitchFamily="2" charset="0"/>
                </a:rPr>
                <a:t>Microcontroller-based monitoring for optimized power management</a:t>
              </a:r>
            </a:p>
            <a:p>
              <a:pPr marL="285750" indent="-285750">
                <a:buFont typeface="Arial" panose="020B0604020202020204" pitchFamily="34" charset="0"/>
                <a:buChar char="•"/>
              </a:pPr>
              <a:r>
                <a:rPr lang="en-IN" sz="1600" dirty="0">
                  <a:solidFill>
                    <a:schemeClr val="bg1"/>
                  </a:solidFill>
                  <a:latin typeface="Montserrat" panose="00000500000000000000" pitchFamily="2" charset="0"/>
                </a:rPr>
                <a:t>Optional IoT-enabled smart energy applications</a:t>
              </a:r>
            </a:p>
            <a:p>
              <a:pPr marL="285750" indent="-285750">
                <a:buFont typeface="Arial" panose="020B0604020202020204" pitchFamily="34" charset="0"/>
                <a:buChar char="•"/>
              </a:pPr>
              <a:r>
                <a:rPr lang="en-IN" sz="1600" dirty="0">
                  <a:solidFill>
                    <a:schemeClr val="bg1"/>
                  </a:solidFill>
                  <a:latin typeface="Montserrat" panose="00000500000000000000" pitchFamily="2" charset="0"/>
                </a:rPr>
                <a:t>Scalable design for high-footfall areas</a:t>
              </a:r>
            </a:p>
          </p:txBody>
        </p:sp>
      </p:grpSp>
      <p:pic>
        <p:nvPicPr>
          <p:cNvPr id="14" name="Picture 13"/>
          <p:cNvPicPr>
            <a:picLocks noChangeAspect="1"/>
          </p:cNvPicPr>
          <p:nvPr/>
        </p:nvPicPr>
        <p:blipFill>
          <a:blip r:embed="rId2">
            <a:extLst>
              <a:ext uri="{28A0092B-C50C-407E-A947-70E740481C1C}">
                <a14:useLocalDpi xmlns:a14="http://schemas.microsoft.com/office/drawing/2010/main" val="0"/>
              </a:ext>
            </a:extLst>
          </a:blip>
          <a:srcRect t="32748" b="30207"/>
          <a:stretch>
            <a:fillRect/>
          </a:stretch>
        </p:blipFill>
        <p:spPr>
          <a:xfrm>
            <a:off x="490302" y="4504898"/>
            <a:ext cx="9537231" cy="1863373"/>
          </a:xfrm>
          <a:prstGeom prst="rect">
            <a:avLst/>
          </a:prstGeom>
        </p:spPr>
      </p:pic>
      <p:pic>
        <p:nvPicPr>
          <p:cNvPr id="18" name="Picture 1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76911" y="4633151"/>
            <a:ext cx="2815255" cy="194032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p:cNvGrpSpPr/>
          <p:nvPr/>
        </p:nvGrpSpPr>
        <p:grpSpPr>
          <a:xfrm>
            <a:off x="537554" y="290282"/>
            <a:ext cx="10862631" cy="6457180"/>
            <a:chOff x="537554" y="290282"/>
            <a:chExt cx="10862631" cy="6457180"/>
          </a:xfrm>
        </p:grpSpPr>
        <p:cxnSp>
          <p:nvCxnSpPr>
            <p:cNvPr id="37" name="Straight Connector 36"/>
            <p:cNvCxnSpPr/>
            <p:nvPr/>
          </p:nvCxnSpPr>
          <p:spPr>
            <a:xfrm>
              <a:off x="5185754" y="1465049"/>
              <a:ext cx="1390650" cy="0"/>
            </a:xfrm>
            <a:prstGeom prst="line">
              <a:avLst/>
            </a:prstGeom>
            <a:ln w="254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22" name="Title 3"/>
            <p:cNvSpPr txBox="1"/>
            <p:nvPr/>
          </p:nvSpPr>
          <p:spPr>
            <a:xfrm>
              <a:off x="537554" y="290282"/>
              <a:ext cx="10687050" cy="638060"/>
            </a:xfrm>
            <a:prstGeom prst="rect">
              <a:avLst/>
            </a:prstGeom>
            <a:noFill/>
          </p:spPr>
          <p:txBody>
            <a:bodyPr wrap="square" rtlCol="0">
              <a:spAutoFit/>
            </a:bodyPr>
            <a:lstStyle>
              <a:defPPr>
                <a:defRPr lang="en-US"/>
              </a:defPPr>
              <a:lvl1pPr>
                <a:lnSpc>
                  <a:spcPct val="80000"/>
                </a:lnSpc>
                <a:defRPr sz="6000">
                  <a:solidFill>
                    <a:schemeClr val="bg1"/>
                  </a:solidFill>
                  <a:latin typeface="Montserrat" panose="00000500000000000000" pitchFamily="2" charset="0"/>
                  <a:cs typeface="Montserrat" panose="00000500000000000000" pitchFamily="2" charset="0"/>
                </a:defRPr>
              </a:lvl1pPr>
            </a:lstStyle>
            <a:p>
              <a:pPr algn="ctr"/>
              <a:r>
                <a:rPr lang="en-IN" sz="4400" b="1" dirty="0">
                  <a:solidFill>
                    <a:srgbClr val="545454"/>
                  </a:solidFill>
                </a:rPr>
                <a:t>7. Competitive Landscape</a:t>
              </a:r>
              <a:endParaRPr lang="id-ID" sz="4400" b="1" dirty="0">
                <a:gradFill>
                  <a:gsLst>
                    <a:gs pos="0">
                      <a:schemeClr val="accent1"/>
                    </a:gs>
                    <a:gs pos="100000">
                      <a:schemeClr val="accent4"/>
                    </a:gs>
                  </a:gsLst>
                  <a:lin ang="2700000" scaled="1"/>
                </a:gradFill>
              </a:endParaRPr>
            </a:p>
          </p:txBody>
        </p:sp>
        <p:sp>
          <p:nvSpPr>
            <p:cNvPr id="3" name="Rectangle 2"/>
            <p:cNvSpPr/>
            <p:nvPr/>
          </p:nvSpPr>
          <p:spPr>
            <a:xfrm>
              <a:off x="791815" y="1611271"/>
              <a:ext cx="10608370" cy="4996634"/>
            </a:xfrm>
            <a:prstGeom prst="rect">
              <a:avLst/>
            </a:prstGeom>
            <a:noFill/>
          </p:spPr>
          <p:txBody>
            <a:bodyPr/>
            <a:lstStyle/>
            <a:p>
              <a:endParaRPr lang="en-IN"/>
            </a:p>
          </p:txBody>
        </p:sp>
        <p:grpSp>
          <p:nvGrpSpPr>
            <p:cNvPr id="9" name="Group 8"/>
            <p:cNvGrpSpPr/>
            <p:nvPr/>
          </p:nvGrpSpPr>
          <p:grpSpPr>
            <a:xfrm>
              <a:off x="1366346" y="5116246"/>
              <a:ext cx="9705318" cy="1631216"/>
              <a:chOff x="791816" y="4729655"/>
              <a:chExt cx="8436267" cy="1878250"/>
            </a:xfrm>
          </p:grpSpPr>
          <p:sp>
            <p:nvSpPr>
              <p:cNvPr id="40" name="TextBox 39"/>
              <p:cNvSpPr txBox="1"/>
              <p:nvPr/>
            </p:nvSpPr>
            <p:spPr>
              <a:xfrm>
                <a:off x="1498085" y="5121340"/>
                <a:ext cx="904415" cy="261610"/>
              </a:xfrm>
              <a:prstGeom prst="rect">
                <a:avLst/>
              </a:prstGeom>
              <a:noFill/>
            </p:spPr>
            <p:txBody>
              <a:bodyPr wrap="none" rtlCol="0">
                <a:spAutoFit/>
              </a:bodyPr>
              <a:lstStyle/>
              <a:p>
                <a:pPr algn="ctr"/>
                <a:r>
                  <a:rPr lang="en-US" sz="1100" dirty="0">
                    <a:solidFill>
                      <a:schemeClr val="bg1"/>
                    </a:solidFill>
                  </a:rPr>
                  <a:t>LEARN NOW</a:t>
                </a:r>
              </a:p>
            </p:txBody>
          </p:sp>
          <p:sp>
            <p:nvSpPr>
              <p:cNvPr id="7" name="Freeform: Shape 6"/>
              <p:cNvSpPr/>
              <p:nvPr/>
            </p:nvSpPr>
            <p:spPr bwMode="white">
              <a:xfrm>
                <a:off x="791816" y="4729655"/>
                <a:ext cx="8436267" cy="1878250"/>
              </a:xfrm>
              <a:custGeom>
                <a:avLst/>
                <a:gdLst>
                  <a:gd name="csX0" fmla="*/ 0 w 10594081"/>
                  <a:gd name="csY0" fmla="*/ 0 h 2302969"/>
                  <a:gd name="csX1" fmla="*/ 10594081 w 10594081"/>
                  <a:gd name="csY1" fmla="*/ 0 h 2302969"/>
                  <a:gd name="csX2" fmla="*/ 10594081 w 10594081"/>
                  <a:gd name="csY2" fmla="*/ 2302969 h 2302969"/>
                  <a:gd name="csX3" fmla="*/ 0 w 10594081"/>
                  <a:gd name="csY3" fmla="*/ 2302969 h 2302969"/>
                  <a:gd name="csX4" fmla="*/ 0 w 10594081"/>
                  <a:gd name="csY4" fmla="*/ 0 h 2302969"/>
                </a:gdLst>
                <a:ahLst/>
                <a:cxnLst>
                  <a:cxn ang="0">
                    <a:pos x="csX0" y="csY0"/>
                  </a:cxn>
                  <a:cxn ang="0">
                    <a:pos x="csX1" y="csY1"/>
                  </a:cxn>
                  <a:cxn ang="0">
                    <a:pos x="csX2" y="csY2"/>
                  </a:cxn>
                  <a:cxn ang="0">
                    <a:pos x="csX3" y="csY3"/>
                  </a:cxn>
                  <a:cxn ang="0">
                    <a:pos x="csX4" y="csY4"/>
                  </a:cxn>
                </a:cxnLst>
                <a:rect l="l" t="t" r="r" b="b"/>
                <a:pathLst>
                  <a:path w="10594081" h="2302969">
                    <a:moveTo>
                      <a:pt x="0" y="0"/>
                    </a:moveTo>
                    <a:lnTo>
                      <a:pt x="10594081" y="0"/>
                    </a:lnTo>
                    <a:lnTo>
                      <a:pt x="10594081" y="2302969"/>
                    </a:lnTo>
                    <a:lnTo>
                      <a:pt x="0" y="2302969"/>
                    </a:lnTo>
                    <a:lnTo>
                      <a:pt x="0" y="0"/>
                    </a:lnTo>
                    <a:close/>
                  </a:path>
                </a:pathLst>
              </a:custGeom>
              <a:solidFill>
                <a:srgbClr val="F04034"/>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endParaRPr lang="en-IN" sz="1800" kern="1200" dirty="0">
                  <a:solidFill>
                    <a:schemeClr val="bg1"/>
                  </a:solidFill>
                  <a:latin typeface="Montserrat" panose="00000500000000000000" pitchFamily="2" charset="0"/>
                </a:endParaRPr>
              </a:p>
            </p:txBody>
          </p:sp>
          <p:sp>
            <p:nvSpPr>
              <p:cNvPr id="8" name="TextBox 7"/>
              <p:cNvSpPr txBox="1"/>
              <p:nvPr/>
            </p:nvSpPr>
            <p:spPr>
              <a:xfrm>
                <a:off x="898808" y="4930116"/>
                <a:ext cx="8222282" cy="1477328"/>
              </a:xfrm>
              <a:prstGeom prst="rect">
                <a:avLst/>
              </a:prstGeom>
              <a:noFill/>
            </p:spPr>
            <p:txBody>
              <a:bodyPr wrap="square" rtlCol="0">
                <a:spAutoFit/>
              </a:bodyPr>
              <a:lstStyle/>
              <a:p>
                <a:pPr lvl="0"/>
                <a:r>
                  <a:rPr lang="en-US" sz="1600" dirty="0">
                    <a:solidFill>
                      <a:schemeClr val="bg1"/>
                    </a:solidFill>
                    <a:latin typeface="Montserrat" panose="00000500000000000000" pitchFamily="2" charset="0"/>
                  </a:rPr>
                  <a:t>Barriers to entry – Key partnerships, IP Opportunities for collaboration and co-creation:</a:t>
                </a:r>
              </a:p>
              <a:p>
                <a:pPr lvl="0"/>
                <a:endParaRPr lang="en-US" sz="1600" dirty="0">
                  <a:solidFill>
                    <a:schemeClr val="bg1"/>
                  </a:solidFill>
                  <a:latin typeface="Montserrat" panose="00000500000000000000" pitchFamily="2" charset="0"/>
                </a:endParaRPr>
              </a:p>
              <a:p>
                <a:pPr marL="285750" lvl="0" indent="-285750">
                  <a:buFont typeface="Arial" panose="020B0604020202020204" pitchFamily="34" charset="0"/>
                  <a:buChar char="•"/>
                </a:pPr>
                <a:r>
                  <a:rPr lang="en-US" sz="1400" dirty="0">
                    <a:solidFill>
                      <a:schemeClr val="bg1"/>
                    </a:solidFill>
                    <a:latin typeface="Montserrat" panose="00000500000000000000" pitchFamily="2" charset="0"/>
                  </a:rPr>
                  <a:t>Barriers: Technical integration, system design know-how
Partnerships: Smart city bodies, infrastructure &amp; IoT firms
IP Opportunities and Co-operation: Research collaborations with academic institutions</a:t>
                </a:r>
                <a:endParaRPr lang="en-IN" sz="1400" dirty="0">
                  <a:solidFill>
                    <a:schemeClr val="bg1"/>
                  </a:solidFill>
                  <a:latin typeface="Montserrat" panose="00000500000000000000" pitchFamily="2" charset="0"/>
                </a:endParaRPr>
              </a:p>
            </p:txBody>
          </p:sp>
        </p:grpSp>
        <p:grpSp>
          <p:nvGrpSpPr>
            <p:cNvPr id="14" name="Group 13"/>
            <p:cNvGrpSpPr/>
            <p:nvPr/>
          </p:nvGrpSpPr>
          <p:grpSpPr>
            <a:xfrm>
              <a:off x="5581280" y="3185751"/>
              <a:ext cx="4981699" cy="1683753"/>
              <a:chOff x="3003258" y="2966198"/>
              <a:chExt cx="5098044" cy="1683753"/>
            </a:xfrm>
          </p:grpSpPr>
          <p:sp>
            <p:nvSpPr>
              <p:cNvPr id="4" name="Freeform: Shape 3"/>
              <p:cNvSpPr/>
              <p:nvPr/>
            </p:nvSpPr>
            <p:spPr bwMode="white">
              <a:xfrm>
                <a:off x="3003258" y="2966198"/>
                <a:ext cx="5098044" cy="1660803"/>
              </a:xfrm>
              <a:custGeom>
                <a:avLst/>
                <a:gdLst>
                  <a:gd name="csX0" fmla="*/ 0 w 5098044"/>
                  <a:gd name="csY0" fmla="*/ 0 h 2302969"/>
                  <a:gd name="csX1" fmla="*/ 5098044 w 5098044"/>
                  <a:gd name="csY1" fmla="*/ 0 h 2302969"/>
                  <a:gd name="csX2" fmla="*/ 5098044 w 5098044"/>
                  <a:gd name="csY2" fmla="*/ 2302969 h 2302969"/>
                  <a:gd name="csX3" fmla="*/ 0 w 5098044"/>
                  <a:gd name="csY3" fmla="*/ 2302969 h 2302969"/>
                  <a:gd name="csX4" fmla="*/ 0 w 5098044"/>
                  <a:gd name="csY4" fmla="*/ 0 h 2302969"/>
                </a:gdLst>
                <a:ahLst/>
                <a:cxnLst>
                  <a:cxn ang="0">
                    <a:pos x="csX0" y="csY0"/>
                  </a:cxn>
                  <a:cxn ang="0">
                    <a:pos x="csX1" y="csY1"/>
                  </a:cxn>
                  <a:cxn ang="0">
                    <a:pos x="csX2" y="csY2"/>
                  </a:cxn>
                  <a:cxn ang="0">
                    <a:pos x="csX3" y="csY3"/>
                  </a:cxn>
                  <a:cxn ang="0">
                    <a:pos x="csX4" y="csY4"/>
                  </a:cxn>
                </a:cxnLst>
                <a:rect l="l" t="t" r="r" b="b"/>
                <a:pathLst>
                  <a:path w="5098044" h="2302969">
                    <a:moveTo>
                      <a:pt x="0" y="0"/>
                    </a:moveTo>
                    <a:lnTo>
                      <a:pt x="5098044" y="0"/>
                    </a:lnTo>
                    <a:lnTo>
                      <a:pt x="5098044" y="2302969"/>
                    </a:lnTo>
                    <a:lnTo>
                      <a:pt x="0" y="2302969"/>
                    </a:lnTo>
                    <a:lnTo>
                      <a:pt x="0" y="0"/>
                    </a:lnTo>
                    <a:close/>
                  </a:path>
                </a:pathLst>
              </a:custGeom>
              <a:solidFill>
                <a:srgbClr val="7F7F7F"/>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endParaRPr lang="en-IN" sz="1600" b="0" i="0" kern="1200" dirty="0">
                  <a:latin typeface="Montserrat" panose="00000500000000000000" pitchFamily="2" charset="0"/>
                </a:endParaRPr>
              </a:p>
              <a:p>
                <a:pPr marL="0" lvl="0" indent="0" algn="l" defTabSz="711200">
                  <a:lnSpc>
                    <a:spcPct val="90000"/>
                  </a:lnSpc>
                  <a:spcBef>
                    <a:spcPct val="0"/>
                  </a:spcBef>
                  <a:spcAft>
                    <a:spcPct val="35000"/>
                  </a:spcAft>
                  <a:buNone/>
                </a:pPr>
                <a:r>
                  <a:rPr lang="en-IN" sz="1600" b="0" i="0" kern="1200" dirty="0">
                    <a:solidFill>
                      <a:schemeClr val="bg1"/>
                    </a:solidFill>
                    <a:latin typeface="Montserrat" panose="00000500000000000000" pitchFamily="2" charset="0"/>
                  </a:rPr>
                  <a:t> </a:t>
                </a:r>
                <a:endParaRPr lang="en-IN" sz="1600" kern="1200" dirty="0">
                  <a:solidFill>
                    <a:schemeClr val="bg1"/>
                  </a:solidFill>
                  <a:latin typeface="Montserrat" panose="00000500000000000000" pitchFamily="2" charset="0"/>
                </a:endParaRPr>
              </a:p>
            </p:txBody>
          </p:sp>
          <p:sp>
            <p:nvSpPr>
              <p:cNvPr id="10" name="TextBox 9"/>
              <p:cNvSpPr txBox="1"/>
              <p:nvPr/>
            </p:nvSpPr>
            <p:spPr>
              <a:xfrm>
                <a:off x="3178292" y="3018735"/>
                <a:ext cx="4747975" cy="1631216"/>
              </a:xfrm>
              <a:prstGeom prst="rect">
                <a:avLst/>
              </a:prstGeom>
              <a:noFill/>
            </p:spPr>
            <p:txBody>
              <a:bodyPr wrap="square" rtlCol="0">
                <a:spAutoFit/>
              </a:bodyPr>
              <a:lstStyle/>
              <a:p>
                <a:r>
                  <a:rPr lang="en-US" dirty="0">
                    <a:solidFill>
                      <a:schemeClr val="bg1"/>
                    </a:solidFill>
                    <a:latin typeface="Montserrat" panose="00000500000000000000" pitchFamily="2" charset="0"/>
                  </a:rPr>
                  <a:t>Competitive Advantages:</a:t>
                </a:r>
              </a:p>
              <a:p>
                <a:endParaRPr lang="en-US" dirty="0">
                  <a:solidFill>
                    <a:schemeClr val="bg1"/>
                  </a:solidFill>
                  <a:latin typeface="Montserrat" panose="00000500000000000000" pitchFamily="2" charset="0"/>
                </a:endParaRPr>
              </a:p>
              <a:p>
                <a:pPr marL="285750" indent="-285750">
                  <a:buFont typeface="Arial" panose="020B0604020202020204" pitchFamily="34" charset="0"/>
                  <a:buChar char="•"/>
                </a:pPr>
                <a:r>
                  <a:rPr lang="en-US" sz="1600" dirty="0">
                    <a:solidFill>
                      <a:schemeClr val="bg1"/>
                    </a:solidFill>
                    <a:latin typeface="Montserrat" panose="00000500000000000000" pitchFamily="2" charset="0"/>
                  </a:rPr>
                  <a:t>Works indoors &amp; outdoors</a:t>
                </a:r>
              </a:p>
              <a:p>
                <a:pPr marL="285750" indent="-285750">
                  <a:buFont typeface="Arial" panose="020B0604020202020204" pitchFamily="34" charset="0"/>
                  <a:buChar char="•"/>
                </a:pPr>
                <a:r>
                  <a:rPr lang="en-US" sz="1600" dirty="0">
                    <a:solidFill>
                      <a:schemeClr val="bg1"/>
                    </a:solidFill>
                    <a:latin typeface="Montserrat" panose="00000500000000000000" pitchFamily="2" charset="0"/>
                  </a:rPr>
                  <a:t>Independent of weather conditions</a:t>
                </a:r>
              </a:p>
              <a:p>
                <a:pPr marL="285750" indent="-285750">
                  <a:buFont typeface="Arial" panose="020B0604020202020204" pitchFamily="34" charset="0"/>
                  <a:buChar char="•"/>
                </a:pPr>
                <a:r>
                  <a:rPr lang="en-US" sz="1600" dirty="0">
                    <a:solidFill>
                      <a:schemeClr val="bg1"/>
                    </a:solidFill>
                    <a:latin typeface="Montserrat" panose="00000500000000000000" pitchFamily="2" charset="0"/>
                  </a:rPr>
                  <a:t>Low maintenance</a:t>
                </a:r>
              </a:p>
              <a:p>
                <a:pPr marL="285750" indent="-285750">
                  <a:buFont typeface="Arial" panose="020B0604020202020204" pitchFamily="34" charset="0"/>
                  <a:buChar char="•"/>
                </a:pPr>
                <a:r>
                  <a:rPr lang="en-US" sz="1600" dirty="0">
                    <a:solidFill>
                      <a:schemeClr val="bg1"/>
                    </a:solidFill>
                    <a:latin typeface="Montserrat" panose="00000500000000000000" pitchFamily="2" charset="0"/>
                  </a:rPr>
                  <a:t>Uses human activity as energy source</a:t>
                </a:r>
                <a:endParaRPr lang="en-IN" sz="1600" dirty="0">
                  <a:solidFill>
                    <a:schemeClr val="bg1"/>
                  </a:solidFill>
                  <a:latin typeface="Montserrat" panose="00000500000000000000" pitchFamily="2" charset="0"/>
                </a:endParaRPr>
              </a:p>
            </p:txBody>
          </p:sp>
        </p:grpSp>
        <p:pic>
          <p:nvPicPr>
            <p:cNvPr id="12" name="Picture 11"/>
            <p:cNvPicPr>
              <a:picLocks noChangeAspect="1"/>
            </p:cNvPicPr>
            <p:nvPr/>
          </p:nvPicPr>
          <p:blipFill>
            <a:blip r:embed="rId2" cstate="print">
              <a:extLst>
                <a:ext uri="{28A0092B-C50C-407E-A947-70E740481C1C}">
                  <a14:useLocalDpi xmlns:a14="http://schemas.microsoft.com/office/drawing/2010/main" val="0"/>
                </a:ext>
              </a:extLst>
            </a:blip>
            <a:srcRect b="7155"/>
            <a:stretch>
              <a:fillRect/>
            </a:stretch>
          </p:blipFill>
          <p:spPr>
            <a:xfrm>
              <a:off x="1902603" y="1094415"/>
              <a:ext cx="3127144" cy="3882271"/>
            </a:xfrm>
            <a:prstGeom prst="rect">
              <a:avLst/>
            </a:prstGeom>
            <a:effectLst>
              <a:softEdge rad="63500"/>
            </a:effectLst>
          </p:spPr>
        </p:pic>
        <p:grpSp>
          <p:nvGrpSpPr>
            <p:cNvPr id="15" name="Group 14"/>
            <p:cNvGrpSpPr/>
            <p:nvPr/>
          </p:nvGrpSpPr>
          <p:grpSpPr>
            <a:xfrm>
              <a:off x="5581280" y="1283499"/>
              <a:ext cx="5015528" cy="1500463"/>
              <a:chOff x="6350831" y="1318569"/>
              <a:chExt cx="5015528" cy="1500463"/>
            </a:xfrm>
          </p:grpSpPr>
          <p:sp>
            <p:nvSpPr>
              <p:cNvPr id="6" name="Freeform: Shape 5"/>
              <p:cNvSpPr/>
              <p:nvPr/>
            </p:nvSpPr>
            <p:spPr bwMode="white">
              <a:xfrm>
                <a:off x="6350831" y="1318569"/>
                <a:ext cx="4981699" cy="1500463"/>
              </a:xfrm>
              <a:custGeom>
                <a:avLst/>
                <a:gdLst>
                  <a:gd name="csX0" fmla="*/ 0 w 5098044"/>
                  <a:gd name="csY0" fmla="*/ 0 h 2302969"/>
                  <a:gd name="csX1" fmla="*/ 5098044 w 5098044"/>
                  <a:gd name="csY1" fmla="*/ 0 h 2302969"/>
                  <a:gd name="csX2" fmla="*/ 5098044 w 5098044"/>
                  <a:gd name="csY2" fmla="*/ 2302969 h 2302969"/>
                  <a:gd name="csX3" fmla="*/ 0 w 5098044"/>
                  <a:gd name="csY3" fmla="*/ 2302969 h 2302969"/>
                  <a:gd name="csX4" fmla="*/ 0 w 5098044"/>
                  <a:gd name="csY4" fmla="*/ 0 h 2302969"/>
                </a:gdLst>
                <a:ahLst/>
                <a:cxnLst>
                  <a:cxn ang="0">
                    <a:pos x="csX0" y="csY0"/>
                  </a:cxn>
                  <a:cxn ang="0">
                    <a:pos x="csX1" y="csY1"/>
                  </a:cxn>
                  <a:cxn ang="0">
                    <a:pos x="csX2" y="csY2"/>
                  </a:cxn>
                  <a:cxn ang="0">
                    <a:pos x="csX3" y="csY3"/>
                  </a:cxn>
                  <a:cxn ang="0">
                    <a:pos x="csX4" y="csY4"/>
                  </a:cxn>
                </a:cxnLst>
                <a:rect l="l" t="t" r="r" b="b"/>
                <a:pathLst>
                  <a:path w="5098044" h="2302969">
                    <a:moveTo>
                      <a:pt x="0" y="0"/>
                    </a:moveTo>
                    <a:lnTo>
                      <a:pt x="5098044" y="0"/>
                    </a:lnTo>
                    <a:lnTo>
                      <a:pt x="5098044" y="2302969"/>
                    </a:lnTo>
                    <a:lnTo>
                      <a:pt x="0" y="2302969"/>
                    </a:lnTo>
                    <a:lnTo>
                      <a:pt x="0" y="0"/>
                    </a:lnTo>
                    <a:close/>
                  </a:path>
                </a:pathLst>
              </a:custGeom>
              <a:solidFill>
                <a:schemeClr val="tx1">
                  <a:lumMod val="50000"/>
                  <a:lumOff val="5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endParaRPr lang="en-IN" sz="1400" kern="1200" dirty="0">
                  <a:solidFill>
                    <a:schemeClr val="bg1"/>
                  </a:solidFill>
                  <a:latin typeface="Montserrat" panose="00000500000000000000" pitchFamily="2" charset="0"/>
                </a:endParaRPr>
              </a:p>
            </p:txBody>
          </p:sp>
          <p:sp>
            <p:nvSpPr>
              <p:cNvPr id="13" name="TextBox 12"/>
              <p:cNvSpPr txBox="1"/>
              <p:nvPr/>
            </p:nvSpPr>
            <p:spPr>
              <a:xfrm>
                <a:off x="6468539" y="1371961"/>
                <a:ext cx="4897820" cy="1200329"/>
              </a:xfrm>
              <a:prstGeom prst="rect">
                <a:avLst/>
              </a:prstGeom>
              <a:noFill/>
            </p:spPr>
            <p:txBody>
              <a:bodyPr wrap="square" rtlCol="0">
                <a:spAutoFit/>
              </a:bodyPr>
              <a:lstStyle/>
              <a:p>
                <a:r>
                  <a:rPr lang="en-US" sz="2000" dirty="0">
                    <a:solidFill>
                      <a:schemeClr val="bg1"/>
                    </a:solidFill>
                    <a:latin typeface="Montserrat" panose="00000500000000000000" pitchFamily="2" charset="0"/>
                  </a:rPr>
                  <a:t>Uniqueness:</a:t>
                </a:r>
              </a:p>
              <a:p>
                <a:endParaRPr lang="en-US" sz="2000" dirty="0">
                  <a:solidFill>
                    <a:schemeClr val="bg1"/>
                  </a:solidFill>
                  <a:latin typeface="Montserrat" panose="00000500000000000000" pitchFamily="2" charset="0"/>
                </a:endParaRPr>
              </a:p>
              <a:p>
                <a:pPr marL="285750" indent="-285750">
                  <a:buFont typeface="Arial" panose="020B0604020202020204" pitchFamily="34" charset="0"/>
                  <a:buChar char="•"/>
                </a:pPr>
                <a:r>
                  <a:rPr lang="en-US" sz="1600" dirty="0">
                    <a:solidFill>
                      <a:schemeClr val="bg1"/>
                    </a:solidFill>
                    <a:latin typeface="Montserrat" panose="00000500000000000000" pitchFamily="2" charset="0"/>
                  </a:rPr>
                  <a:t>Generates power from footsteps anywhere.</a:t>
                </a:r>
              </a:p>
              <a:p>
                <a:pPr marL="285750" indent="-285750">
                  <a:buFont typeface="Arial" panose="020B0604020202020204" pitchFamily="34" charset="0"/>
                  <a:buChar char="•"/>
                </a:pPr>
                <a:r>
                  <a:rPr lang="en-US" sz="1600" dirty="0">
                    <a:solidFill>
                      <a:schemeClr val="bg1"/>
                    </a:solidFill>
                    <a:latin typeface="Montserrat" panose="00000500000000000000" pitchFamily="2" charset="0"/>
                  </a:rPr>
                  <a:t>Works indoors and outdoors, anytime</a:t>
                </a:r>
                <a:r>
                  <a:rPr lang="en-US" sz="1600" dirty="0">
                    <a:latin typeface="Montserrat" panose="00000500000000000000" pitchFamily="2" charset="0"/>
                  </a:rPr>
                  <a:t>.</a:t>
                </a:r>
                <a:endParaRPr lang="en-IN" sz="1600" dirty="0">
                  <a:latin typeface="Montserrat" panose="00000500000000000000" pitchFamily="2" charset="0"/>
                </a:endParaRPr>
              </a:p>
            </p:txBody>
          </p:sp>
        </p:gr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8"/>
          <p:cNvGrpSpPr/>
          <p:nvPr/>
        </p:nvGrpSpPr>
        <p:grpSpPr>
          <a:xfrm>
            <a:off x="214604" y="196495"/>
            <a:ext cx="11904828" cy="6465010"/>
            <a:chOff x="214604" y="196495"/>
            <a:chExt cx="11904828" cy="6465010"/>
          </a:xfrm>
        </p:grpSpPr>
        <p:cxnSp>
          <p:nvCxnSpPr>
            <p:cNvPr id="37" name="Straight Connector 36"/>
            <p:cNvCxnSpPr/>
            <p:nvPr/>
          </p:nvCxnSpPr>
          <p:spPr>
            <a:xfrm>
              <a:off x="5185754" y="1465049"/>
              <a:ext cx="1390650" cy="0"/>
            </a:xfrm>
            <a:prstGeom prst="line">
              <a:avLst/>
            </a:prstGeom>
            <a:ln w="254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1498085" y="5121340"/>
              <a:ext cx="904415" cy="261610"/>
            </a:xfrm>
            <a:prstGeom prst="rect">
              <a:avLst/>
            </a:prstGeom>
            <a:noFill/>
          </p:spPr>
          <p:txBody>
            <a:bodyPr wrap="none" rtlCol="0">
              <a:spAutoFit/>
            </a:bodyPr>
            <a:lstStyle/>
            <a:p>
              <a:pPr algn="ctr"/>
              <a:r>
                <a:rPr lang="en-US" sz="1100" dirty="0">
                  <a:solidFill>
                    <a:schemeClr val="bg1"/>
                  </a:solidFill>
                </a:rPr>
                <a:t>LEARN NOW</a:t>
              </a:r>
            </a:p>
          </p:txBody>
        </p:sp>
        <p:sp>
          <p:nvSpPr>
            <p:cNvPr id="22" name="Title 3"/>
            <p:cNvSpPr txBox="1"/>
            <p:nvPr/>
          </p:nvSpPr>
          <p:spPr>
            <a:xfrm>
              <a:off x="752475" y="196495"/>
              <a:ext cx="10687050" cy="1180067"/>
            </a:xfrm>
            <a:prstGeom prst="rect">
              <a:avLst/>
            </a:prstGeom>
            <a:noFill/>
          </p:spPr>
          <p:txBody>
            <a:bodyPr wrap="square" rtlCol="0">
              <a:spAutoFit/>
            </a:bodyPr>
            <a:lstStyle>
              <a:defPPr>
                <a:defRPr lang="en-US"/>
              </a:defPPr>
              <a:lvl1pPr>
                <a:lnSpc>
                  <a:spcPct val="80000"/>
                </a:lnSpc>
                <a:defRPr sz="6000">
                  <a:solidFill>
                    <a:schemeClr val="bg1"/>
                  </a:solidFill>
                  <a:latin typeface="Montserrat" panose="00000500000000000000" pitchFamily="2" charset="0"/>
                  <a:cs typeface="Montserrat" panose="00000500000000000000" pitchFamily="2" charset="0"/>
                </a:defRPr>
              </a:lvl1pPr>
            </a:lstStyle>
            <a:p>
              <a:pPr algn="ctr"/>
              <a:r>
                <a:rPr lang="en-IN" sz="4000" b="1" dirty="0">
                  <a:solidFill>
                    <a:srgbClr val="545454"/>
                  </a:solidFill>
                </a:rPr>
                <a:t>8. LEAN CANVAS</a:t>
              </a:r>
            </a:p>
            <a:p>
              <a:pPr algn="ctr"/>
              <a:endParaRPr lang="id-ID" sz="4800" b="1" dirty="0">
                <a:gradFill>
                  <a:gsLst>
                    <a:gs pos="0">
                      <a:schemeClr val="accent1"/>
                    </a:gs>
                    <a:gs pos="100000">
                      <a:schemeClr val="accent4"/>
                    </a:gs>
                  </a:gsLst>
                  <a:lin ang="2700000" scaled="1"/>
                </a:gradFill>
              </a:endParaRPr>
            </a:p>
          </p:txBody>
        </p:sp>
        <p:sp>
          <p:nvSpPr>
            <p:cNvPr id="6" name="TextBox 5"/>
            <p:cNvSpPr txBox="1"/>
            <p:nvPr/>
          </p:nvSpPr>
          <p:spPr>
            <a:xfrm>
              <a:off x="309139" y="1803603"/>
              <a:ext cx="368506" cy="923330"/>
            </a:xfrm>
            <a:prstGeom prst="rect">
              <a:avLst/>
            </a:prstGeom>
            <a:noFill/>
          </p:spPr>
          <p:txBody>
            <a:bodyPr wrap="square" rtlCol="0">
              <a:spAutoFit/>
            </a:bodyPr>
            <a:lstStyle/>
            <a:p>
              <a:r>
                <a:rPr lang="en-US" sz="5400" dirty="0"/>
                <a:t>.</a:t>
              </a:r>
              <a:endParaRPr lang="en-IN" sz="5400" dirty="0"/>
            </a:p>
          </p:txBody>
        </p:sp>
        <p:grpSp>
          <p:nvGrpSpPr>
            <p:cNvPr id="18" name="Group 17"/>
            <p:cNvGrpSpPr/>
            <p:nvPr/>
          </p:nvGrpSpPr>
          <p:grpSpPr>
            <a:xfrm>
              <a:off x="214604" y="689914"/>
              <a:ext cx="11904828" cy="5971591"/>
              <a:chOff x="177282" y="802432"/>
              <a:chExt cx="11904828" cy="5971591"/>
            </a:xfrm>
          </p:grpSpPr>
          <p:graphicFrame>
            <p:nvGraphicFramePr>
              <p:cNvPr id="5" name="Diagram 4"/>
              <p:cNvGraphicFramePr/>
              <p:nvPr/>
            </p:nvGraphicFramePr>
            <p:xfrm>
              <a:off x="177282" y="802432"/>
              <a:ext cx="11831216" cy="59715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extBox 1"/>
              <p:cNvSpPr txBox="1"/>
              <p:nvPr/>
            </p:nvSpPr>
            <p:spPr>
              <a:xfrm>
                <a:off x="493392" y="1465049"/>
                <a:ext cx="2009386" cy="1600438"/>
              </a:xfrm>
              <a:prstGeom prst="rect">
                <a:avLst/>
              </a:prstGeom>
              <a:noFill/>
            </p:spPr>
            <p:txBody>
              <a:bodyPr wrap="square" rtlCol="0">
                <a:spAutoFit/>
              </a:bodyPr>
              <a:lstStyle/>
              <a:p>
                <a:r>
                  <a:rPr lang="en-US" sz="1400" dirty="0"/>
                  <a:t>Footstep energy wasted in public places</a:t>
                </a:r>
              </a:p>
              <a:p>
                <a:r>
                  <a:rPr lang="en-US" sz="1400" dirty="0"/>
                  <a:t>Rising demand for renewable energy</a:t>
                </a:r>
              </a:p>
              <a:p>
                <a:r>
                  <a:rPr lang="en-US" sz="1400" dirty="0"/>
                  <a:t>High dependence on grid power</a:t>
                </a:r>
                <a:endParaRPr lang="en-IN" sz="1400" dirty="0"/>
              </a:p>
              <a:p>
                <a:endParaRPr lang="en-US" sz="1400" dirty="0"/>
              </a:p>
            </p:txBody>
          </p:sp>
          <p:sp>
            <p:nvSpPr>
              <p:cNvPr id="7" name="TextBox 6"/>
              <p:cNvSpPr txBox="1"/>
              <p:nvPr/>
            </p:nvSpPr>
            <p:spPr>
              <a:xfrm>
                <a:off x="2920481" y="1388489"/>
                <a:ext cx="2118049" cy="1384995"/>
              </a:xfrm>
              <a:prstGeom prst="rect">
                <a:avLst/>
              </a:prstGeom>
              <a:noFill/>
            </p:spPr>
            <p:txBody>
              <a:bodyPr wrap="square" rtlCol="0">
                <a:spAutoFit/>
              </a:bodyPr>
              <a:lstStyle/>
              <a:p>
                <a:pPr marL="285750" indent="-285750">
                  <a:buFont typeface="Arial" panose="020B0604020202020204" pitchFamily="34" charset="0"/>
                  <a:buChar char="•"/>
                </a:pPr>
                <a:r>
                  <a:rPr lang="en-US" sz="1400" dirty="0"/>
                  <a:t>Piezoelectric tiles generate electricity</a:t>
                </a:r>
              </a:p>
              <a:p>
                <a:pPr marL="285750" indent="-285750">
                  <a:buFont typeface="Arial" panose="020B0604020202020204" pitchFamily="34" charset="0"/>
                  <a:buChar char="•"/>
                </a:pPr>
                <a:r>
                  <a:rPr lang="en-US" sz="1400" dirty="0"/>
                  <a:t>Pressure from footsteps used</a:t>
                </a:r>
              </a:p>
              <a:p>
                <a:pPr marL="285750" indent="-285750">
                  <a:buFont typeface="Arial" panose="020B0604020202020204" pitchFamily="34" charset="0"/>
                  <a:buChar char="•"/>
                </a:pPr>
                <a:r>
                  <a:rPr lang="en-US" sz="1400" dirty="0"/>
                  <a:t>Energy stored for later use</a:t>
                </a:r>
                <a:endParaRPr lang="en-IN" sz="1400" dirty="0"/>
              </a:p>
            </p:txBody>
          </p:sp>
          <p:sp>
            <p:nvSpPr>
              <p:cNvPr id="8" name="TextBox 7"/>
              <p:cNvSpPr txBox="1"/>
              <p:nvPr/>
            </p:nvSpPr>
            <p:spPr>
              <a:xfrm>
                <a:off x="5365101" y="1557382"/>
                <a:ext cx="2276670" cy="1169551"/>
              </a:xfrm>
              <a:prstGeom prst="rect">
                <a:avLst/>
              </a:prstGeom>
              <a:noFill/>
            </p:spPr>
            <p:txBody>
              <a:bodyPr wrap="square" rtlCol="0">
                <a:spAutoFit/>
              </a:bodyPr>
              <a:lstStyle/>
              <a:p>
                <a:pPr marL="285750" indent="-285750">
                  <a:buFont typeface="Arial" panose="020B0604020202020204" pitchFamily="34" charset="0"/>
                  <a:buChar char="•"/>
                </a:pPr>
                <a:r>
                  <a:rPr lang="en-US" sz="1400" dirty="0"/>
                  <a:t>Clean and renewable energy</a:t>
                </a:r>
              </a:p>
              <a:p>
                <a:pPr marL="285750" indent="-285750">
                  <a:buFont typeface="Arial" panose="020B0604020202020204" pitchFamily="34" charset="0"/>
                  <a:buChar char="•"/>
                </a:pPr>
                <a:r>
                  <a:rPr lang="en-US" sz="1400" dirty="0"/>
                  <a:t>No extra space required</a:t>
                </a:r>
              </a:p>
              <a:p>
                <a:pPr marL="285750" indent="-285750">
                  <a:buFont typeface="Arial" panose="020B0604020202020204" pitchFamily="34" charset="0"/>
                  <a:buChar char="•"/>
                </a:pPr>
                <a:r>
                  <a:rPr lang="en-US" sz="1400" dirty="0"/>
                  <a:t>Ideal for smart infrastructure</a:t>
                </a:r>
                <a:endParaRPr lang="en-IN" sz="1400" dirty="0"/>
              </a:p>
            </p:txBody>
          </p:sp>
          <p:sp>
            <p:nvSpPr>
              <p:cNvPr id="9" name="TextBox 8"/>
              <p:cNvSpPr txBox="1"/>
              <p:nvPr/>
            </p:nvSpPr>
            <p:spPr>
              <a:xfrm>
                <a:off x="7893699" y="1557382"/>
                <a:ext cx="2043404" cy="1169551"/>
              </a:xfrm>
              <a:prstGeom prst="rect">
                <a:avLst/>
              </a:prstGeom>
              <a:noFill/>
            </p:spPr>
            <p:txBody>
              <a:bodyPr wrap="square" rtlCol="0">
                <a:spAutoFit/>
              </a:bodyPr>
              <a:lstStyle/>
              <a:p>
                <a:pPr marL="285750" indent="-285750">
                  <a:buFont typeface="Arial" panose="020B0604020202020204" pitchFamily="34" charset="0"/>
                  <a:buChar char="•"/>
                </a:pPr>
                <a:r>
                  <a:rPr lang="en-IN" sz="1400" dirty="0"/>
                  <a:t>Optimized piezo disc placement</a:t>
                </a:r>
              </a:p>
              <a:p>
                <a:pPr marL="285750" indent="-285750">
                  <a:buFont typeface="Arial" panose="020B0604020202020204" pitchFamily="34" charset="0"/>
                  <a:buChar char="•"/>
                </a:pPr>
                <a:r>
                  <a:rPr lang="en-IN" sz="1400" dirty="0"/>
                  <a:t>Modular tile design</a:t>
                </a:r>
              </a:p>
              <a:p>
                <a:pPr marL="285750" indent="-285750">
                  <a:buFont typeface="Arial" panose="020B0604020202020204" pitchFamily="34" charset="0"/>
                  <a:buChar char="•"/>
                </a:pPr>
                <a:r>
                  <a:rPr lang="en-IN" sz="1400" dirty="0"/>
                  <a:t>Low maintenance system</a:t>
                </a:r>
              </a:p>
            </p:txBody>
          </p:sp>
          <p:sp>
            <p:nvSpPr>
              <p:cNvPr id="10" name="TextBox 9"/>
              <p:cNvSpPr txBox="1"/>
              <p:nvPr/>
            </p:nvSpPr>
            <p:spPr>
              <a:xfrm>
                <a:off x="10093461" y="1475050"/>
                <a:ext cx="1988649" cy="1600438"/>
              </a:xfrm>
              <a:prstGeom prst="rect">
                <a:avLst/>
              </a:prstGeom>
              <a:noFill/>
            </p:spPr>
            <p:txBody>
              <a:bodyPr wrap="square" rtlCol="0">
                <a:spAutoFit/>
              </a:bodyPr>
              <a:lstStyle/>
              <a:p>
                <a:pPr marL="285750" indent="-285750">
                  <a:buFont typeface="Arial" panose="020B0604020202020204" pitchFamily="34" charset="0"/>
                  <a:buChar char="•"/>
                </a:pPr>
                <a:r>
                  <a:rPr lang="en-US" sz="1400" dirty="0"/>
                  <a:t>Airports and railway stations</a:t>
                </a:r>
              </a:p>
              <a:p>
                <a:pPr marL="285750" indent="-285750">
                  <a:buFont typeface="Arial" panose="020B0604020202020204" pitchFamily="34" charset="0"/>
                  <a:buChar char="•"/>
                </a:pPr>
                <a:r>
                  <a:rPr lang="en-US" sz="1400" dirty="0"/>
                  <a:t>Malls and commercial buildings</a:t>
                </a:r>
              </a:p>
              <a:p>
                <a:pPr marL="285750" indent="-285750">
                  <a:buFont typeface="Arial" panose="020B0604020202020204" pitchFamily="34" charset="0"/>
                  <a:buChar char="•"/>
                </a:pPr>
                <a:r>
                  <a:rPr lang="en-US" sz="1400" dirty="0"/>
                  <a:t>Schools and smart cities</a:t>
                </a:r>
                <a:endParaRPr lang="en-IN" sz="1400" dirty="0"/>
              </a:p>
            </p:txBody>
          </p:sp>
          <p:sp>
            <p:nvSpPr>
              <p:cNvPr id="11" name="TextBox 10"/>
              <p:cNvSpPr txBox="1"/>
              <p:nvPr/>
            </p:nvSpPr>
            <p:spPr>
              <a:xfrm>
                <a:off x="341703" y="3517641"/>
                <a:ext cx="2312763" cy="738664"/>
              </a:xfrm>
              <a:prstGeom prst="rect">
                <a:avLst/>
              </a:prstGeom>
              <a:noFill/>
            </p:spPr>
            <p:txBody>
              <a:bodyPr wrap="square" rtlCol="0">
                <a:spAutoFit/>
              </a:bodyPr>
              <a:lstStyle/>
              <a:p>
                <a:pPr marL="285750" indent="-285750">
                  <a:buFont typeface="Arial" panose="020B0604020202020204" pitchFamily="34" charset="0"/>
                  <a:buChar char="•"/>
                </a:pPr>
                <a:r>
                  <a:rPr lang="en-US" sz="1400" dirty="0"/>
                  <a:t>Grid electricity</a:t>
                </a:r>
              </a:p>
              <a:p>
                <a:pPr marL="285750" indent="-285750">
                  <a:buFont typeface="Arial" panose="020B0604020202020204" pitchFamily="34" charset="0"/>
                  <a:buChar char="•"/>
                </a:pPr>
                <a:r>
                  <a:rPr lang="en-US" sz="1400" dirty="0"/>
                  <a:t>Solar power systems</a:t>
                </a:r>
              </a:p>
              <a:p>
                <a:pPr marL="285750" indent="-285750">
                  <a:buFont typeface="Arial" panose="020B0604020202020204" pitchFamily="34" charset="0"/>
                  <a:buChar char="•"/>
                </a:pPr>
                <a:r>
                  <a:rPr lang="en-US" sz="1400" dirty="0"/>
                  <a:t>Battery-powered devices</a:t>
                </a:r>
                <a:endParaRPr lang="en-IN" sz="1400" dirty="0"/>
              </a:p>
            </p:txBody>
          </p:sp>
          <p:sp>
            <p:nvSpPr>
              <p:cNvPr id="12" name="TextBox 11"/>
              <p:cNvSpPr txBox="1"/>
              <p:nvPr/>
            </p:nvSpPr>
            <p:spPr>
              <a:xfrm>
                <a:off x="3004456" y="3517641"/>
                <a:ext cx="2034074" cy="738664"/>
              </a:xfrm>
              <a:prstGeom prst="rect">
                <a:avLst/>
              </a:prstGeom>
              <a:noFill/>
            </p:spPr>
            <p:txBody>
              <a:bodyPr wrap="square" rtlCol="0">
                <a:spAutoFit/>
              </a:bodyPr>
              <a:lstStyle/>
              <a:p>
                <a:pPr marL="285750" indent="-285750">
                  <a:buFont typeface="Arial" panose="020B0604020202020204" pitchFamily="34" charset="0"/>
                  <a:buChar char="•"/>
                </a:pPr>
                <a:r>
                  <a:rPr lang="en-US" sz="1400" dirty="0"/>
                  <a:t>Energy per footstep</a:t>
                </a:r>
              </a:p>
              <a:p>
                <a:pPr marL="285750" indent="-285750">
                  <a:buFont typeface="Arial" panose="020B0604020202020204" pitchFamily="34" charset="0"/>
                  <a:buChar char="•"/>
                </a:pPr>
                <a:r>
                  <a:rPr lang="en-US" sz="1400" dirty="0"/>
                  <a:t>System efficiency</a:t>
                </a:r>
              </a:p>
              <a:p>
                <a:pPr marL="285750" indent="-285750">
                  <a:buFont typeface="Arial" panose="020B0604020202020204" pitchFamily="34" charset="0"/>
                  <a:buChar char="•"/>
                </a:pPr>
                <a:r>
                  <a:rPr lang="en-US" sz="1400" dirty="0"/>
                  <a:t>Installation cost</a:t>
                </a:r>
                <a:endParaRPr lang="en-IN" sz="1400" dirty="0"/>
              </a:p>
            </p:txBody>
          </p:sp>
          <p:sp>
            <p:nvSpPr>
              <p:cNvPr id="13" name="TextBox 12"/>
              <p:cNvSpPr txBox="1"/>
              <p:nvPr/>
            </p:nvSpPr>
            <p:spPr>
              <a:xfrm>
                <a:off x="5388520" y="3517641"/>
                <a:ext cx="2276669" cy="738664"/>
              </a:xfrm>
              <a:prstGeom prst="rect">
                <a:avLst/>
              </a:prstGeom>
              <a:noFill/>
            </p:spPr>
            <p:txBody>
              <a:bodyPr wrap="square" rtlCol="0">
                <a:spAutoFit/>
              </a:bodyPr>
              <a:lstStyle/>
              <a:p>
                <a:pPr marL="285750" indent="-285750">
                  <a:buFont typeface="Arial" panose="020B0604020202020204" pitchFamily="34" charset="0"/>
                  <a:buChar char="•"/>
                </a:pPr>
                <a:r>
                  <a:rPr lang="en-US" sz="1400" dirty="0"/>
                  <a:t>Footsteps to electricity</a:t>
                </a:r>
              </a:p>
              <a:p>
                <a:pPr marL="285750" indent="-285750">
                  <a:buFont typeface="Arial" panose="020B0604020202020204" pitchFamily="34" charset="0"/>
                  <a:buChar char="•"/>
                </a:pPr>
                <a:r>
                  <a:rPr lang="en-US" sz="1400" dirty="0"/>
                  <a:t>Smart energy floor</a:t>
                </a:r>
              </a:p>
              <a:p>
                <a:pPr marL="285750" indent="-285750">
                  <a:buFont typeface="Arial" panose="020B0604020202020204" pitchFamily="34" charset="0"/>
                  <a:buChar char="•"/>
                </a:pPr>
                <a:r>
                  <a:rPr lang="en-US" sz="1400" dirty="0"/>
                  <a:t>Green infrastructure</a:t>
                </a:r>
                <a:endParaRPr lang="en-IN" sz="1400" dirty="0"/>
              </a:p>
            </p:txBody>
          </p:sp>
          <p:sp>
            <p:nvSpPr>
              <p:cNvPr id="14" name="TextBox 13"/>
              <p:cNvSpPr txBox="1"/>
              <p:nvPr/>
            </p:nvSpPr>
            <p:spPr>
              <a:xfrm>
                <a:off x="7816792" y="3517641"/>
                <a:ext cx="2276669" cy="738664"/>
              </a:xfrm>
              <a:prstGeom prst="rect">
                <a:avLst/>
              </a:prstGeom>
              <a:noFill/>
            </p:spPr>
            <p:txBody>
              <a:bodyPr wrap="square" rtlCol="0">
                <a:spAutoFit/>
              </a:bodyPr>
              <a:lstStyle/>
              <a:p>
                <a:pPr marL="285750" indent="-285750">
                  <a:buFont typeface="Arial" panose="020B0604020202020204" pitchFamily="34" charset="0"/>
                  <a:buChar char="•"/>
                </a:pPr>
                <a:r>
                  <a:rPr lang="en-US" sz="1400" dirty="0"/>
                  <a:t>Government projects</a:t>
                </a:r>
              </a:p>
              <a:p>
                <a:pPr marL="285750" indent="-285750">
                  <a:buFont typeface="Arial" panose="020B0604020202020204" pitchFamily="34" charset="0"/>
                  <a:buChar char="•"/>
                </a:pPr>
                <a:r>
                  <a:rPr lang="en-US" sz="1400" dirty="0"/>
                  <a:t>Infrastructure partners</a:t>
                </a:r>
              </a:p>
              <a:p>
                <a:pPr marL="285750" indent="-285750">
                  <a:buFont typeface="Arial" panose="020B0604020202020204" pitchFamily="34" charset="0"/>
                  <a:buChar char="•"/>
                </a:pPr>
                <a:r>
                  <a:rPr lang="en-US" sz="1400" dirty="0"/>
                  <a:t>Direct B2B sales</a:t>
                </a:r>
                <a:endParaRPr lang="en-IN" sz="1400" dirty="0"/>
              </a:p>
            </p:txBody>
          </p:sp>
          <p:sp>
            <p:nvSpPr>
              <p:cNvPr id="15" name="TextBox 14"/>
              <p:cNvSpPr txBox="1"/>
              <p:nvPr/>
            </p:nvSpPr>
            <p:spPr>
              <a:xfrm>
                <a:off x="10079139" y="3496864"/>
                <a:ext cx="2002971" cy="738664"/>
              </a:xfrm>
              <a:prstGeom prst="rect">
                <a:avLst/>
              </a:prstGeom>
              <a:noFill/>
            </p:spPr>
            <p:txBody>
              <a:bodyPr wrap="square" rtlCol="0">
                <a:spAutoFit/>
              </a:bodyPr>
              <a:lstStyle/>
              <a:p>
                <a:pPr marL="285750" indent="-285750">
                  <a:buFont typeface="Arial" panose="020B0604020202020204" pitchFamily="34" charset="0"/>
                  <a:buChar char="•"/>
                </a:pPr>
                <a:r>
                  <a:rPr lang="en-US" sz="1400" dirty="0"/>
                  <a:t>Smart city pilots</a:t>
                </a:r>
              </a:p>
              <a:p>
                <a:pPr marL="285750" indent="-285750">
                  <a:buFont typeface="Arial" panose="020B0604020202020204" pitchFamily="34" charset="0"/>
                  <a:buChar char="•"/>
                </a:pPr>
                <a:r>
                  <a:rPr lang="en-US" sz="1400" dirty="0"/>
                  <a:t>High-footfall spaces</a:t>
                </a:r>
              </a:p>
              <a:p>
                <a:pPr marL="285750" indent="-285750">
                  <a:buFont typeface="Arial" panose="020B0604020202020204" pitchFamily="34" charset="0"/>
                  <a:buChar char="•"/>
                </a:pPr>
                <a:r>
                  <a:rPr lang="en-US" sz="1400" dirty="0"/>
                  <a:t>Green buildings</a:t>
                </a:r>
                <a:endParaRPr lang="en-IN" sz="1400" dirty="0"/>
              </a:p>
            </p:txBody>
          </p:sp>
          <p:sp>
            <p:nvSpPr>
              <p:cNvPr id="16" name="TextBox 15"/>
              <p:cNvSpPr txBox="1"/>
              <p:nvPr/>
            </p:nvSpPr>
            <p:spPr>
              <a:xfrm>
                <a:off x="991832" y="5516959"/>
                <a:ext cx="2821335" cy="1077218"/>
              </a:xfrm>
              <a:prstGeom prst="rect">
                <a:avLst/>
              </a:prstGeom>
              <a:noFill/>
            </p:spPr>
            <p:txBody>
              <a:bodyPr wrap="square" rtlCol="0">
                <a:spAutoFit/>
              </a:bodyPr>
              <a:lstStyle/>
              <a:p>
                <a:pPr marL="285750" indent="-285750">
                  <a:buFont typeface="Arial" panose="020B0604020202020204" pitchFamily="34" charset="0"/>
                  <a:buChar char="•"/>
                </a:pPr>
                <a:r>
                  <a:rPr lang="en-IN" sz="1600" dirty="0"/>
                  <a:t>Piezoelectric discs</a:t>
                </a:r>
              </a:p>
              <a:p>
                <a:pPr marL="285750" indent="-285750">
                  <a:buFont typeface="Arial" panose="020B0604020202020204" pitchFamily="34" charset="0"/>
                  <a:buChar char="•"/>
                </a:pPr>
                <a:r>
                  <a:rPr lang="en-IN" sz="1600" dirty="0"/>
                  <a:t>Tile materials</a:t>
                </a:r>
              </a:p>
              <a:p>
                <a:pPr marL="285750" indent="-285750">
                  <a:buFont typeface="Arial" panose="020B0604020202020204" pitchFamily="34" charset="0"/>
                  <a:buChar char="•"/>
                </a:pPr>
                <a:r>
                  <a:rPr lang="en-IN" sz="1600" dirty="0"/>
                  <a:t>Power electronics</a:t>
                </a:r>
              </a:p>
              <a:p>
                <a:pPr marL="285750" indent="-285750">
                  <a:buFont typeface="Arial" panose="020B0604020202020204" pitchFamily="34" charset="0"/>
                  <a:buChar char="•"/>
                </a:pPr>
                <a:r>
                  <a:rPr lang="en-IN" sz="1600" dirty="0"/>
                  <a:t>Installation &amp; maintenance</a:t>
                </a:r>
              </a:p>
            </p:txBody>
          </p:sp>
          <p:sp>
            <p:nvSpPr>
              <p:cNvPr id="17" name="TextBox 16"/>
              <p:cNvSpPr txBox="1"/>
              <p:nvPr/>
            </p:nvSpPr>
            <p:spPr>
              <a:xfrm>
                <a:off x="6821710" y="5516959"/>
                <a:ext cx="2565919" cy="830997"/>
              </a:xfrm>
              <a:prstGeom prst="rect">
                <a:avLst/>
              </a:prstGeom>
              <a:noFill/>
            </p:spPr>
            <p:txBody>
              <a:bodyPr wrap="square" rtlCol="0">
                <a:spAutoFit/>
              </a:bodyPr>
              <a:lstStyle/>
              <a:p>
                <a:pPr marL="285750" indent="-285750">
                  <a:buFont typeface="Arial" panose="020B0604020202020204" pitchFamily="34" charset="0"/>
                  <a:buChar char="•"/>
                </a:pPr>
                <a:r>
                  <a:rPr lang="en-IN" sz="1600" dirty="0"/>
                  <a:t>Tile system sales</a:t>
                </a:r>
              </a:p>
              <a:p>
                <a:pPr marL="285750" indent="-285750">
                  <a:buFont typeface="Arial" panose="020B0604020202020204" pitchFamily="34" charset="0"/>
                  <a:buChar char="•"/>
                </a:pPr>
                <a:r>
                  <a:rPr lang="en-IN" sz="1600" dirty="0"/>
                  <a:t>Installation services</a:t>
                </a:r>
              </a:p>
              <a:p>
                <a:pPr marL="285750" indent="-285750">
                  <a:buFont typeface="Arial" panose="020B0604020202020204" pitchFamily="34" charset="0"/>
                  <a:buChar char="•"/>
                </a:pPr>
                <a:r>
                  <a:rPr lang="en-IN" sz="1600" dirty="0"/>
                  <a:t>Maintenance contracts</a:t>
                </a:r>
              </a:p>
            </p:txBody>
          </p:sp>
        </p:gr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91815" y="1611271"/>
            <a:ext cx="10608370" cy="4996634"/>
          </a:xfrm>
          <a:prstGeom prst="rect">
            <a:avLst/>
          </a:prstGeom>
          <a:noFill/>
        </p:spPr>
        <p:txBody>
          <a:bodyPr/>
          <a:lstStyle/>
          <a:p>
            <a:endParaRPr lang="en-IN"/>
          </a:p>
        </p:txBody>
      </p:sp>
      <p:grpSp>
        <p:nvGrpSpPr>
          <p:cNvPr id="9" name="Group 8"/>
          <p:cNvGrpSpPr/>
          <p:nvPr/>
        </p:nvGrpSpPr>
        <p:grpSpPr>
          <a:xfrm>
            <a:off x="752475" y="474269"/>
            <a:ext cx="10687050" cy="5736339"/>
            <a:chOff x="752475" y="474269"/>
            <a:chExt cx="10687050" cy="5736339"/>
          </a:xfrm>
        </p:grpSpPr>
        <p:cxnSp>
          <p:nvCxnSpPr>
            <p:cNvPr id="37" name="Straight Connector 36"/>
            <p:cNvCxnSpPr/>
            <p:nvPr/>
          </p:nvCxnSpPr>
          <p:spPr>
            <a:xfrm>
              <a:off x="5185754" y="1465049"/>
              <a:ext cx="1390650" cy="0"/>
            </a:xfrm>
            <a:prstGeom prst="line">
              <a:avLst/>
            </a:prstGeom>
            <a:ln w="254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1498085" y="5121340"/>
              <a:ext cx="904415" cy="261610"/>
            </a:xfrm>
            <a:prstGeom prst="rect">
              <a:avLst/>
            </a:prstGeom>
            <a:noFill/>
          </p:spPr>
          <p:txBody>
            <a:bodyPr wrap="none" rtlCol="0">
              <a:spAutoFit/>
            </a:bodyPr>
            <a:lstStyle/>
            <a:p>
              <a:pPr algn="ctr"/>
              <a:r>
                <a:rPr lang="en-US" sz="1100" dirty="0">
                  <a:solidFill>
                    <a:schemeClr val="bg1"/>
                  </a:solidFill>
                </a:rPr>
                <a:t>LEARN NOW</a:t>
              </a:r>
            </a:p>
          </p:txBody>
        </p:sp>
        <p:sp>
          <p:nvSpPr>
            <p:cNvPr id="22" name="Title 3"/>
            <p:cNvSpPr txBox="1"/>
            <p:nvPr/>
          </p:nvSpPr>
          <p:spPr>
            <a:xfrm>
              <a:off x="752475" y="474269"/>
              <a:ext cx="10687050" cy="687624"/>
            </a:xfrm>
            <a:prstGeom prst="rect">
              <a:avLst/>
            </a:prstGeom>
            <a:noFill/>
          </p:spPr>
          <p:txBody>
            <a:bodyPr wrap="square" rtlCol="0">
              <a:spAutoFit/>
            </a:bodyPr>
            <a:lstStyle>
              <a:defPPr>
                <a:defRPr lang="en-US"/>
              </a:defPPr>
              <a:lvl1pPr>
                <a:lnSpc>
                  <a:spcPct val="80000"/>
                </a:lnSpc>
                <a:defRPr sz="6000">
                  <a:solidFill>
                    <a:schemeClr val="bg1"/>
                  </a:solidFill>
                  <a:latin typeface="Montserrat" panose="00000500000000000000" pitchFamily="2" charset="0"/>
                  <a:cs typeface="Montserrat" panose="00000500000000000000" pitchFamily="2" charset="0"/>
                </a:defRPr>
              </a:lvl1pPr>
            </a:lstStyle>
            <a:p>
              <a:pPr algn="ctr"/>
              <a:r>
                <a:rPr lang="en-IN" sz="4800" b="1" dirty="0">
                  <a:solidFill>
                    <a:srgbClr val="545454"/>
                  </a:solidFill>
                </a:rPr>
                <a:t>9. Business Model</a:t>
              </a:r>
              <a:endParaRPr lang="id-ID" sz="4800" b="1" dirty="0">
                <a:gradFill>
                  <a:gsLst>
                    <a:gs pos="0">
                      <a:schemeClr val="accent1"/>
                    </a:gs>
                    <a:gs pos="100000">
                      <a:schemeClr val="accent4"/>
                    </a:gs>
                  </a:gsLst>
                  <a:lin ang="2700000" scaled="1"/>
                </a:gradFill>
              </a:endParaRPr>
            </a:p>
          </p:txBody>
        </p:sp>
        <p:sp>
          <p:nvSpPr>
            <p:cNvPr id="6" name="Freeform: Shape 5"/>
            <p:cNvSpPr/>
            <p:nvPr/>
          </p:nvSpPr>
          <p:spPr bwMode="white">
            <a:xfrm>
              <a:off x="791815" y="1465049"/>
              <a:ext cx="5104924" cy="4745559"/>
            </a:xfrm>
            <a:custGeom>
              <a:avLst/>
              <a:gdLst>
                <a:gd name="csX0" fmla="*/ 0 w 5104924"/>
                <a:gd name="csY0" fmla="*/ 0 h 4176536"/>
                <a:gd name="csX1" fmla="*/ 5104924 w 5104924"/>
                <a:gd name="csY1" fmla="*/ 0 h 4176536"/>
                <a:gd name="csX2" fmla="*/ 5104924 w 5104924"/>
                <a:gd name="csY2" fmla="*/ 4176536 h 4176536"/>
                <a:gd name="csX3" fmla="*/ 0 w 5104924"/>
                <a:gd name="csY3" fmla="*/ 4176536 h 4176536"/>
                <a:gd name="csX4" fmla="*/ 0 w 5104924"/>
                <a:gd name="csY4" fmla="*/ 0 h 4176536"/>
              </a:gdLst>
              <a:ahLst/>
              <a:cxnLst>
                <a:cxn ang="0">
                  <a:pos x="csX0" y="csY0"/>
                </a:cxn>
                <a:cxn ang="0">
                  <a:pos x="csX1" y="csY1"/>
                </a:cxn>
                <a:cxn ang="0">
                  <a:pos x="csX2" y="csY2"/>
                </a:cxn>
                <a:cxn ang="0">
                  <a:pos x="csX3" y="csY3"/>
                </a:cxn>
                <a:cxn ang="0">
                  <a:pos x="csX4" y="csY4"/>
                </a:cxn>
              </a:cxnLst>
              <a:rect l="l" t="t" r="r" b="b"/>
              <a:pathLst>
                <a:path w="5104924" h="4176536">
                  <a:moveTo>
                    <a:pt x="0" y="0"/>
                  </a:moveTo>
                  <a:lnTo>
                    <a:pt x="5104924" y="0"/>
                  </a:lnTo>
                  <a:lnTo>
                    <a:pt x="5104924" y="4176536"/>
                  </a:lnTo>
                  <a:lnTo>
                    <a:pt x="0" y="4176536"/>
                  </a:lnTo>
                  <a:lnTo>
                    <a:pt x="0" y="0"/>
                  </a:lnTo>
                  <a:close/>
                </a:path>
              </a:pathLst>
            </a:custGeom>
            <a:solidFill>
              <a:srgbClr val="7F7F7F"/>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endParaRPr lang="en-IN" sz="1600" kern="1200" dirty="0">
                <a:solidFill>
                  <a:schemeClr val="bg1"/>
                </a:solidFill>
                <a:latin typeface="Montserrat" panose="00000500000000000000" pitchFamily="2" charset="0"/>
              </a:endParaRPr>
            </a:p>
          </p:txBody>
        </p:sp>
        <p:sp>
          <p:nvSpPr>
            <p:cNvPr id="7" name="Freeform: Shape 6"/>
            <p:cNvSpPr/>
            <p:nvPr/>
          </p:nvSpPr>
          <p:spPr bwMode="white">
            <a:xfrm>
              <a:off x="6295260" y="1459249"/>
              <a:ext cx="5104924" cy="4745559"/>
            </a:xfrm>
            <a:custGeom>
              <a:avLst/>
              <a:gdLst>
                <a:gd name="csX0" fmla="*/ 0 w 5104924"/>
                <a:gd name="csY0" fmla="*/ 0 h 4180064"/>
                <a:gd name="csX1" fmla="*/ 5104924 w 5104924"/>
                <a:gd name="csY1" fmla="*/ 0 h 4180064"/>
                <a:gd name="csX2" fmla="*/ 5104924 w 5104924"/>
                <a:gd name="csY2" fmla="*/ 4180064 h 4180064"/>
                <a:gd name="csX3" fmla="*/ 0 w 5104924"/>
                <a:gd name="csY3" fmla="*/ 4180064 h 4180064"/>
                <a:gd name="csX4" fmla="*/ 0 w 5104924"/>
                <a:gd name="csY4" fmla="*/ 0 h 4180064"/>
              </a:gdLst>
              <a:ahLst/>
              <a:cxnLst>
                <a:cxn ang="0">
                  <a:pos x="csX0" y="csY0"/>
                </a:cxn>
                <a:cxn ang="0">
                  <a:pos x="csX1" y="csY1"/>
                </a:cxn>
                <a:cxn ang="0">
                  <a:pos x="csX2" y="csY2"/>
                </a:cxn>
                <a:cxn ang="0">
                  <a:pos x="csX3" y="csY3"/>
                </a:cxn>
                <a:cxn ang="0">
                  <a:pos x="csX4" y="csY4"/>
                </a:cxn>
              </a:cxnLst>
              <a:rect l="l" t="t" r="r" b="b"/>
              <a:pathLst>
                <a:path w="5104924" h="4180064">
                  <a:moveTo>
                    <a:pt x="0" y="0"/>
                  </a:moveTo>
                  <a:lnTo>
                    <a:pt x="5104924" y="0"/>
                  </a:lnTo>
                  <a:lnTo>
                    <a:pt x="5104924" y="4180064"/>
                  </a:lnTo>
                  <a:lnTo>
                    <a:pt x="0" y="4180064"/>
                  </a:lnTo>
                  <a:lnTo>
                    <a:pt x="0" y="0"/>
                  </a:lnTo>
                  <a:close/>
                </a:path>
              </a:pathLst>
            </a:custGeom>
            <a:solidFill>
              <a:srgbClr val="F04034"/>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endParaRPr lang="en-IN" sz="1800" kern="1200" dirty="0">
                <a:solidFill>
                  <a:schemeClr val="bg1"/>
                </a:solidFill>
                <a:latin typeface="Montserrat" panose="00000500000000000000" pitchFamily="2" charset="0"/>
              </a:endParaRPr>
            </a:p>
          </p:txBody>
        </p:sp>
        <p:sp>
          <p:nvSpPr>
            <p:cNvPr id="2" name="TextBox 1"/>
            <p:cNvSpPr txBox="1"/>
            <p:nvPr/>
          </p:nvSpPr>
          <p:spPr>
            <a:xfrm>
              <a:off x="1009428" y="1846869"/>
              <a:ext cx="4887311" cy="3970318"/>
            </a:xfrm>
            <a:prstGeom prst="rect">
              <a:avLst/>
            </a:prstGeom>
            <a:noFill/>
          </p:spPr>
          <p:txBody>
            <a:bodyPr wrap="square" rtlCol="0">
              <a:spAutoFit/>
            </a:bodyPr>
            <a:lstStyle/>
            <a:p>
              <a:pPr lvl="0"/>
              <a:r>
                <a:rPr lang="en-US" sz="2400" dirty="0">
                  <a:solidFill>
                    <a:schemeClr val="bg1"/>
                  </a:solidFill>
                  <a:latin typeface="Montserrat" panose="00000500000000000000" pitchFamily="2" charset="0"/>
                </a:rPr>
                <a:t>Source of Revenue:</a:t>
              </a:r>
              <a:endParaRPr lang="en-US" sz="2400" dirty="0">
                <a:latin typeface="Montserrat" panose="00000500000000000000" pitchFamily="2" charset="0"/>
              </a:endParaRPr>
            </a:p>
            <a:p>
              <a:pPr marL="285750" lvl="0" indent="-285750">
                <a:lnSpc>
                  <a:spcPct val="150000"/>
                </a:lnSpc>
                <a:buFont typeface="Arial" panose="020B0604020202020204" pitchFamily="34" charset="0"/>
                <a:buChar char="•"/>
              </a:pPr>
              <a:r>
                <a:rPr lang="en-US" sz="2000" dirty="0">
                  <a:solidFill>
                    <a:schemeClr val="bg1"/>
                  </a:solidFill>
                  <a:latin typeface="Montserrat" panose="00000500000000000000" pitchFamily="2" charset="0"/>
                </a:rPr>
                <a:t>Tile Sales: Selling piezoelectric floor tiles to institutions and public spaces
Services: Installation, integration, and maintenance
Custom Solutions: Tailored smart city and IoT applications</a:t>
              </a:r>
              <a:endParaRPr lang="en-IN" sz="2000" dirty="0">
                <a:solidFill>
                  <a:schemeClr val="bg1"/>
                </a:solidFill>
                <a:latin typeface="Montserrat" panose="00000500000000000000" pitchFamily="2" charset="0"/>
              </a:endParaRPr>
            </a:p>
            <a:p>
              <a:endParaRPr lang="en-IN" dirty="0"/>
            </a:p>
          </p:txBody>
        </p:sp>
        <p:sp>
          <p:nvSpPr>
            <p:cNvPr id="8" name="TextBox 7"/>
            <p:cNvSpPr txBox="1"/>
            <p:nvPr/>
          </p:nvSpPr>
          <p:spPr>
            <a:xfrm>
              <a:off x="6598073" y="1963867"/>
              <a:ext cx="4603531" cy="4030334"/>
            </a:xfrm>
            <a:prstGeom prst="rect">
              <a:avLst/>
            </a:prstGeom>
            <a:noFill/>
          </p:spPr>
          <p:txBody>
            <a:bodyPr wrap="square" rtlCol="0">
              <a:spAutoFit/>
            </a:bodyPr>
            <a:lstStyle/>
            <a:p>
              <a:pPr lvl="0" defTabSz="889000">
                <a:lnSpc>
                  <a:spcPct val="90000"/>
                </a:lnSpc>
                <a:spcBef>
                  <a:spcPct val="0"/>
                </a:spcBef>
                <a:spcAft>
                  <a:spcPct val="35000"/>
                </a:spcAft>
              </a:pPr>
              <a:r>
                <a:rPr lang="en-US" sz="2400" dirty="0">
                  <a:solidFill>
                    <a:schemeClr val="bg1"/>
                  </a:solidFill>
                  <a:latin typeface="Montserrat" panose="00000500000000000000" pitchFamily="2" charset="0"/>
                </a:rPr>
                <a:t>Viability:</a:t>
              </a:r>
            </a:p>
            <a:p>
              <a:pPr marL="285750" lvl="0" indent="-285750" defTabSz="889000">
                <a:lnSpc>
                  <a:spcPct val="150000"/>
                </a:lnSpc>
                <a:spcBef>
                  <a:spcPct val="0"/>
                </a:spcBef>
                <a:spcAft>
                  <a:spcPct val="35000"/>
                </a:spcAft>
                <a:buFont typeface="Arial" panose="020B0604020202020204" pitchFamily="34" charset="0"/>
                <a:buChar char="•"/>
              </a:pPr>
              <a:r>
                <a:rPr lang="en-US" dirty="0">
                  <a:solidFill>
                    <a:schemeClr val="bg1"/>
                  </a:solidFill>
                  <a:latin typeface="Montserrat" panose="00000500000000000000" pitchFamily="2" charset="0"/>
                </a:rPr>
                <a:t>Earns through: Tile sales, installation, and smart city solutions
Scalable: Modular design for any high-footfall space
Profitable: Low-cost, low-maintenance, recurring revenue from services</a:t>
              </a:r>
              <a:endParaRPr lang="en-IN" dirty="0">
                <a:solidFill>
                  <a:schemeClr val="bg1"/>
                </a:solidFill>
                <a:latin typeface="Montserrat" panose="00000500000000000000" pitchFamily="2" charset="0"/>
              </a:endParaRPr>
            </a:p>
            <a:p>
              <a:endParaRPr lang="en-IN" dirty="0"/>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9006035E-7D13-3EBF-2776-FB18E7F88AFA}"/>
              </a:ext>
            </a:extLst>
          </p:cNvPr>
          <p:cNvGrpSpPr/>
          <p:nvPr/>
        </p:nvGrpSpPr>
        <p:grpSpPr>
          <a:xfrm>
            <a:off x="752475" y="474269"/>
            <a:ext cx="10687050" cy="6133636"/>
            <a:chOff x="752475" y="474269"/>
            <a:chExt cx="10687050" cy="6133636"/>
          </a:xfrm>
        </p:grpSpPr>
        <p:graphicFrame>
          <p:nvGraphicFramePr>
            <p:cNvPr id="5" name="Diagram 4"/>
            <p:cNvGraphicFramePr/>
            <p:nvPr>
              <p:extLst>
                <p:ext uri="{D42A27DB-BD31-4B8C-83A1-F6EECF244321}">
                  <p14:modId xmlns:p14="http://schemas.microsoft.com/office/powerpoint/2010/main" val="1618841846"/>
                </p:ext>
              </p:extLst>
            </p:nvPr>
          </p:nvGraphicFramePr>
          <p:xfrm>
            <a:off x="791815" y="1611271"/>
            <a:ext cx="10608370" cy="49966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9" name="Group 8"/>
            <p:cNvGrpSpPr/>
            <p:nvPr/>
          </p:nvGrpSpPr>
          <p:grpSpPr>
            <a:xfrm>
              <a:off x="752475" y="474269"/>
              <a:ext cx="10687050" cy="6065520"/>
              <a:chOff x="752475" y="474269"/>
              <a:chExt cx="10687050" cy="6065520"/>
            </a:xfrm>
          </p:grpSpPr>
          <p:cxnSp>
            <p:nvCxnSpPr>
              <p:cNvPr id="37" name="Straight Connector 36"/>
              <p:cNvCxnSpPr/>
              <p:nvPr/>
            </p:nvCxnSpPr>
            <p:spPr>
              <a:xfrm>
                <a:off x="5185754" y="1465049"/>
                <a:ext cx="1390650" cy="0"/>
              </a:xfrm>
              <a:prstGeom prst="line">
                <a:avLst/>
              </a:prstGeom>
              <a:ln w="254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1498085" y="5121340"/>
                <a:ext cx="904415" cy="261610"/>
              </a:xfrm>
              <a:prstGeom prst="rect">
                <a:avLst/>
              </a:prstGeom>
              <a:noFill/>
            </p:spPr>
            <p:txBody>
              <a:bodyPr wrap="none" rtlCol="0">
                <a:spAutoFit/>
              </a:bodyPr>
              <a:lstStyle/>
              <a:p>
                <a:pPr algn="ctr"/>
                <a:r>
                  <a:rPr lang="en-US" sz="1100" dirty="0">
                    <a:solidFill>
                      <a:schemeClr val="bg1"/>
                    </a:solidFill>
                  </a:rPr>
                  <a:t>LEARN NOW</a:t>
                </a:r>
              </a:p>
            </p:txBody>
          </p:sp>
          <p:sp>
            <p:nvSpPr>
              <p:cNvPr id="22" name="Title 3"/>
              <p:cNvSpPr txBox="1"/>
              <p:nvPr/>
            </p:nvSpPr>
            <p:spPr>
              <a:xfrm>
                <a:off x="752475" y="474269"/>
                <a:ext cx="10687050" cy="687624"/>
              </a:xfrm>
              <a:prstGeom prst="rect">
                <a:avLst/>
              </a:prstGeom>
              <a:noFill/>
            </p:spPr>
            <p:txBody>
              <a:bodyPr wrap="square" rtlCol="0">
                <a:spAutoFit/>
              </a:bodyPr>
              <a:lstStyle>
                <a:defPPr>
                  <a:defRPr lang="en-US"/>
                </a:defPPr>
                <a:lvl1pPr>
                  <a:lnSpc>
                    <a:spcPct val="80000"/>
                  </a:lnSpc>
                  <a:defRPr sz="6000">
                    <a:solidFill>
                      <a:schemeClr val="bg1"/>
                    </a:solidFill>
                    <a:latin typeface="Montserrat" panose="00000500000000000000" pitchFamily="2" charset="0"/>
                    <a:cs typeface="Montserrat" panose="00000500000000000000" pitchFamily="2" charset="0"/>
                  </a:defRPr>
                </a:lvl1pPr>
              </a:lstStyle>
              <a:p>
                <a:pPr algn="ctr"/>
                <a:r>
                  <a:rPr lang="en-IN" sz="4800" b="1" dirty="0">
                    <a:solidFill>
                      <a:srgbClr val="545454"/>
                    </a:solidFill>
                  </a:rPr>
                  <a:t>10. The Team</a:t>
                </a:r>
                <a:endParaRPr lang="id-ID" sz="4800" b="1" dirty="0">
                  <a:gradFill>
                    <a:gsLst>
                      <a:gs pos="0">
                        <a:schemeClr val="accent1"/>
                      </a:gs>
                      <a:gs pos="100000">
                        <a:schemeClr val="accent4"/>
                      </a:gs>
                    </a:gsLst>
                    <a:lin ang="2700000" scaled="1"/>
                  </a:gradFill>
                </a:endParaRPr>
              </a:p>
            </p:txBody>
          </p:sp>
          <p:sp>
            <p:nvSpPr>
              <p:cNvPr id="2" name="Rectangle 1"/>
              <p:cNvSpPr/>
              <p:nvPr/>
            </p:nvSpPr>
            <p:spPr>
              <a:xfrm>
                <a:off x="1371928" y="1732204"/>
                <a:ext cx="4632960" cy="2816860"/>
              </a:xfrm>
              <a:prstGeom prst="rect">
                <a:avLst/>
              </a:prstGeom>
              <a:solidFill>
                <a:schemeClr val="tx1">
                  <a:lumMod val="50000"/>
                  <a:lumOff val="50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p:cNvSpPr txBox="1"/>
              <p:nvPr/>
            </p:nvSpPr>
            <p:spPr>
              <a:xfrm>
                <a:off x="1501303" y="1988831"/>
                <a:ext cx="4143718" cy="2585323"/>
              </a:xfrm>
              <a:prstGeom prst="rect">
                <a:avLst/>
              </a:prstGeom>
              <a:noFill/>
            </p:spPr>
            <p:txBody>
              <a:bodyPr wrap="square" rtlCol="0">
                <a:spAutoFit/>
              </a:bodyPr>
              <a:lstStyle/>
              <a:p>
                <a:r>
                  <a:rPr lang="en-IN" b="1" spc="-35" dirty="0">
                    <a:solidFill>
                      <a:schemeClr val="bg1"/>
                    </a:solidFill>
                    <a:latin typeface="Tahoma" panose="020B0604030504040204"/>
                    <a:cs typeface="Tahoma" panose="020B0604030504040204"/>
                  </a:rPr>
                  <a:t>Mentor</a:t>
                </a:r>
                <a:r>
                  <a:rPr lang="en-IN" spc="-35" dirty="0">
                    <a:solidFill>
                      <a:schemeClr val="bg1"/>
                    </a:solidFill>
                    <a:latin typeface="Verdana" panose="020B0604030504040204"/>
                    <a:cs typeface="Verdana" panose="020B0604030504040204"/>
                  </a:rPr>
                  <a:t>:</a:t>
                </a:r>
                <a:r>
                  <a:rPr lang="en-IN" spc="-235" dirty="0">
                    <a:solidFill>
                      <a:schemeClr val="bg1"/>
                    </a:solidFill>
                    <a:latin typeface="Verdana" panose="020B0604030504040204"/>
                    <a:cs typeface="Verdana" panose="020B0604030504040204"/>
                  </a:rPr>
                  <a:t> </a:t>
                </a:r>
                <a:r>
                  <a:rPr lang="en-IN" dirty="0">
                    <a:solidFill>
                      <a:schemeClr val="bg1"/>
                    </a:solidFill>
                    <a:latin typeface="Verdana" panose="020B0604030504040204"/>
                    <a:cs typeface="Verdana" panose="020B0604030504040204"/>
                  </a:rPr>
                  <a:t>Dr</a:t>
                </a:r>
                <a:r>
                  <a:rPr lang="en-IN" spc="-229" dirty="0">
                    <a:solidFill>
                      <a:schemeClr val="bg1"/>
                    </a:solidFill>
                    <a:latin typeface="Verdana" panose="020B0604030504040204"/>
                    <a:cs typeface="Verdana" panose="020B0604030504040204"/>
                  </a:rPr>
                  <a:t> </a:t>
                </a:r>
                <a:r>
                  <a:rPr lang="en-IN" spc="-365" dirty="0">
                    <a:solidFill>
                      <a:schemeClr val="bg1"/>
                    </a:solidFill>
                    <a:latin typeface="Verdana" panose="020B0604030504040204"/>
                    <a:cs typeface="Verdana" panose="020B0604030504040204"/>
                  </a:rPr>
                  <a:t>.T.</a:t>
                </a:r>
                <a:r>
                  <a:rPr lang="en-IN" spc="-235" dirty="0">
                    <a:solidFill>
                      <a:schemeClr val="bg1"/>
                    </a:solidFill>
                    <a:latin typeface="Verdana" panose="020B0604030504040204"/>
                    <a:cs typeface="Verdana" panose="020B0604030504040204"/>
                  </a:rPr>
                  <a:t> </a:t>
                </a:r>
                <a:r>
                  <a:rPr lang="en-IN" dirty="0">
                    <a:solidFill>
                      <a:schemeClr val="bg1"/>
                    </a:solidFill>
                    <a:latin typeface="Verdana" panose="020B0604030504040204"/>
                    <a:cs typeface="Verdana" panose="020B0604030504040204"/>
                  </a:rPr>
                  <a:t>Sudheer</a:t>
                </a:r>
                <a:r>
                  <a:rPr lang="en-IN" spc="-229" dirty="0">
                    <a:solidFill>
                      <a:schemeClr val="bg1"/>
                    </a:solidFill>
                    <a:latin typeface="Verdana" panose="020B0604030504040204"/>
                    <a:cs typeface="Verdana" panose="020B0604030504040204"/>
                  </a:rPr>
                  <a:t> </a:t>
                </a:r>
                <a:r>
                  <a:rPr lang="en-IN" spc="45" dirty="0">
                    <a:solidFill>
                      <a:schemeClr val="bg1"/>
                    </a:solidFill>
                    <a:latin typeface="Verdana" panose="020B0604030504040204"/>
                    <a:cs typeface="Verdana" panose="020B0604030504040204"/>
                  </a:rPr>
                  <a:t>Kumar</a:t>
                </a:r>
                <a:endParaRPr lang="en-IN" dirty="0">
                  <a:solidFill>
                    <a:schemeClr val="bg1"/>
                  </a:solidFill>
                  <a:latin typeface="Verdana" panose="020B0604030504040204"/>
                  <a:cs typeface="Verdana" panose="020B0604030504040204"/>
                </a:endParaRPr>
              </a:p>
              <a:p>
                <a:endParaRPr lang="en-IN" dirty="0">
                  <a:solidFill>
                    <a:schemeClr val="bg1"/>
                  </a:solidFill>
                </a:endParaRPr>
              </a:p>
              <a:p>
                <a:r>
                  <a:rPr lang="en-IN" b="1" spc="90" dirty="0">
                    <a:solidFill>
                      <a:schemeClr val="bg1"/>
                    </a:solidFill>
                    <a:latin typeface="Tahoma" panose="020B0604030504040204"/>
                    <a:cs typeface="Tahoma" panose="020B0604030504040204"/>
                  </a:rPr>
                  <a:t>Team</a:t>
                </a:r>
                <a:r>
                  <a:rPr lang="en-IN" b="1" dirty="0">
                    <a:solidFill>
                      <a:schemeClr val="bg1"/>
                    </a:solidFill>
                    <a:latin typeface="Tahoma" panose="020B0604030504040204"/>
                    <a:cs typeface="Tahoma" panose="020B0604030504040204"/>
                  </a:rPr>
                  <a:t>	</a:t>
                </a:r>
                <a:r>
                  <a:rPr lang="en-IN" b="1" spc="110" dirty="0">
                    <a:solidFill>
                      <a:schemeClr val="bg1"/>
                    </a:solidFill>
                    <a:latin typeface="Tahoma" panose="020B0604030504040204"/>
                    <a:cs typeface="Tahoma" panose="020B0604030504040204"/>
                  </a:rPr>
                  <a:t>Members:</a:t>
                </a:r>
              </a:p>
              <a:p>
                <a:pPr marL="285750" indent="-285750">
                  <a:buFont typeface="Arial" panose="020B0604020202020204" pitchFamily="34" charset="0"/>
                  <a:buChar char="•"/>
                </a:pPr>
                <a:r>
                  <a:rPr lang="en-IN" spc="110" dirty="0">
                    <a:solidFill>
                      <a:schemeClr val="bg1"/>
                    </a:solidFill>
                    <a:latin typeface="Tahoma" panose="020B0604030504040204"/>
                    <a:cs typeface="Tahoma" panose="020B0604030504040204"/>
                  </a:rPr>
                  <a:t>Bestha Lahari</a:t>
                </a:r>
              </a:p>
              <a:p>
                <a:pPr marL="285750" indent="-285750">
                  <a:buFont typeface="Arial" panose="020B0604020202020204" pitchFamily="34" charset="0"/>
                  <a:buChar char="•"/>
                </a:pPr>
                <a:r>
                  <a:rPr lang="en-IN" spc="110" dirty="0">
                    <a:solidFill>
                      <a:schemeClr val="bg1"/>
                    </a:solidFill>
                    <a:latin typeface="Tahoma" panose="020B0604030504040204"/>
                    <a:cs typeface="Tahoma" panose="020B0604030504040204"/>
                  </a:rPr>
                  <a:t>Maddineni Pallavi</a:t>
                </a:r>
              </a:p>
              <a:p>
                <a:pPr marL="285750" indent="-285750">
                  <a:buFont typeface="Arial" panose="020B0604020202020204" pitchFamily="34" charset="0"/>
                  <a:buChar char="•"/>
                </a:pPr>
                <a:r>
                  <a:rPr lang="en-IN" spc="110" dirty="0">
                    <a:solidFill>
                      <a:schemeClr val="bg1"/>
                    </a:solidFill>
                    <a:latin typeface="Tahoma" panose="020B0604030504040204"/>
                    <a:cs typeface="Tahoma" panose="020B0604030504040204"/>
                  </a:rPr>
                  <a:t>Chakkati Kiran Kumari</a:t>
                </a:r>
              </a:p>
              <a:p>
                <a:pPr marL="285750" indent="-285750">
                  <a:buFont typeface="Arial" panose="020B0604020202020204" pitchFamily="34" charset="0"/>
                  <a:buChar char="•"/>
                </a:pPr>
                <a:r>
                  <a:rPr lang="en-IN" spc="110" dirty="0">
                    <a:solidFill>
                      <a:schemeClr val="bg1"/>
                    </a:solidFill>
                    <a:latin typeface="Tahoma" panose="020B0604030504040204"/>
                    <a:cs typeface="Tahoma" panose="020B0604030504040204"/>
                  </a:rPr>
                  <a:t>Guntupalli  Nandini</a:t>
                </a:r>
              </a:p>
              <a:p>
                <a:pPr marL="285750" indent="-285750">
                  <a:buFont typeface="Arial" panose="020B0604020202020204" pitchFamily="34" charset="0"/>
                  <a:buChar char="•"/>
                </a:pPr>
                <a:r>
                  <a:rPr lang="en-IN" spc="110" dirty="0">
                    <a:solidFill>
                      <a:schemeClr val="bg1"/>
                    </a:solidFill>
                    <a:latin typeface="Tahoma" panose="020B0604030504040204"/>
                    <a:cs typeface="Tahoma" panose="020B0604030504040204"/>
                  </a:rPr>
                  <a:t>Ch.L.Samyutha Chowdary</a:t>
                </a:r>
                <a:endParaRPr lang="en-IN" dirty="0">
                  <a:solidFill>
                    <a:schemeClr val="bg1"/>
                  </a:solidFill>
                  <a:latin typeface="Tahoma" panose="020B0604030504040204"/>
                  <a:cs typeface="Tahoma" panose="020B0604030504040204"/>
                </a:endParaRPr>
              </a:p>
              <a:p>
                <a:endParaRPr lang="en-IN" dirty="0"/>
              </a:p>
            </p:txBody>
          </p:sp>
          <p:sp>
            <p:nvSpPr>
              <p:cNvPr id="7" name="Rectangle 6"/>
              <p:cNvSpPr/>
              <p:nvPr/>
            </p:nvSpPr>
            <p:spPr>
              <a:xfrm>
                <a:off x="1372235" y="4816399"/>
                <a:ext cx="9268460" cy="1723390"/>
              </a:xfrm>
              <a:prstGeom prst="rect">
                <a:avLst/>
              </a:prstGeom>
              <a:solidFill>
                <a:srgbClr val="F04034"/>
              </a:solidFill>
              <a:ln>
                <a:solidFill>
                  <a:srgbClr val="EE251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p:cNvSpPr txBox="1"/>
              <p:nvPr/>
            </p:nvSpPr>
            <p:spPr>
              <a:xfrm>
                <a:off x="1587061" y="4885119"/>
                <a:ext cx="8923284" cy="1015663"/>
              </a:xfrm>
              <a:prstGeom prst="rect">
                <a:avLst/>
              </a:prstGeom>
              <a:noFill/>
            </p:spPr>
            <p:txBody>
              <a:bodyPr wrap="square" rtlCol="0">
                <a:spAutoFit/>
              </a:bodyPr>
              <a:lstStyle/>
              <a:p>
                <a:pPr algn="ctr"/>
                <a:r>
                  <a:rPr lang="en-US" sz="2000" dirty="0">
                    <a:solidFill>
                      <a:schemeClr val="bg1"/>
                    </a:solidFill>
                    <a:latin typeface="Montserrat" panose="00000500000000000000" pitchFamily="2" charset="0"/>
                  </a:rPr>
                  <a:t>Our team combines electronics, renewable energy concepts, and smart infrastructure innovation to address real-world energy challenges.</a:t>
                </a:r>
                <a:endParaRPr lang="en-IN" sz="2000" dirty="0">
                  <a:solidFill>
                    <a:schemeClr val="bg1"/>
                  </a:solidFill>
                  <a:latin typeface="Montserrat" panose="00000500000000000000" pitchFamily="2" charset="0"/>
                </a:endParaRPr>
              </a:p>
            </p:txBody>
          </p:sp>
          <p:sp>
            <p:nvSpPr>
              <p:cNvPr id="8" name="TextBox 7"/>
              <p:cNvSpPr txBox="1"/>
              <p:nvPr/>
            </p:nvSpPr>
            <p:spPr>
              <a:xfrm>
                <a:off x="5265682" y="4485009"/>
                <a:ext cx="1954924" cy="400110"/>
              </a:xfrm>
              <a:prstGeom prst="rect">
                <a:avLst/>
              </a:prstGeom>
              <a:noFill/>
            </p:spPr>
            <p:txBody>
              <a:bodyPr wrap="square" rtlCol="0">
                <a:spAutoFit/>
              </a:bodyPr>
              <a:lstStyle/>
              <a:p>
                <a:r>
                  <a:rPr lang="en-US" sz="2000" b="1" dirty="0">
                    <a:solidFill>
                      <a:schemeClr val="bg1"/>
                    </a:solidFill>
                    <a:latin typeface="Montserrat" panose="00000500000000000000" pitchFamily="2" charset="0"/>
                  </a:rPr>
                  <a:t>Unique Value</a:t>
                </a:r>
                <a:endParaRPr lang="en-IN" sz="2000" b="1" dirty="0">
                  <a:solidFill>
                    <a:schemeClr val="bg1"/>
                  </a:solidFill>
                  <a:latin typeface="Montserrat" panose="00000500000000000000" pitchFamily="2" charset="0"/>
                </a:endParaRPr>
              </a:p>
            </p:txBody>
          </p:sp>
        </p:grpSp>
        <p:sp>
          <p:nvSpPr>
            <p:cNvPr id="4" name="Rectangles 3"/>
            <p:cNvSpPr/>
            <p:nvPr/>
          </p:nvSpPr>
          <p:spPr>
            <a:xfrm>
              <a:off x="6301740" y="1760855"/>
              <a:ext cx="4338955" cy="2794000"/>
            </a:xfrm>
            <a:prstGeom prst="rect">
              <a:avLst/>
            </a:prstGeom>
            <a:solidFill>
              <a:srgbClr val="F04034"/>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0" name="Text Box 9"/>
            <p:cNvSpPr txBox="1"/>
            <p:nvPr/>
          </p:nvSpPr>
          <p:spPr>
            <a:xfrm>
              <a:off x="6478905" y="1927860"/>
              <a:ext cx="4030980" cy="2326791"/>
            </a:xfrm>
            <a:prstGeom prst="rect">
              <a:avLst/>
            </a:prstGeom>
            <a:noFill/>
          </p:spPr>
          <p:txBody>
            <a:bodyPr wrap="square" rtlCol="0">
              <a:spAutoFit/>
            </a:bodyPr>
            <a:lstStyle/>
            <a:p>
              <a:pPr lvl="0" algn="l">
                <a:lnSpc>
                  <a:spcPct val="100000"/>
                </a:lnSpc>
                <a:spcBef>
                  <a:spcPct val="0"/>
                </a:spcBef>
                <a:spcAft>
                  <a:spcPct val="35000"/>
                </a:spcAft>
              </a:pPr>
              <a:r>
                <a:rPr lang="en-IN" dirty="0">
                  <a:solidFill>
                    <a:schemeClr val="bg1"/>
                  </a:solidFill>
                  <a:latin typeface="Montserrat" panose="00000500000000000000" pitchFamily="2" charset="0"/>
                  <a:sym typeface="+mn-ea"/>
                </a:rPr>
                <a:t>Team member’s history</a:t>
              </a:r>
              <a:r>
                <a:rPr lang="en-US" altLang="en-IN" dirty="0">
                  <a:solidFill>
                    <a:schemeClr val="bg1"/>
                  </a:solidFill>
                  <a:latin typeface="Montserrat" panose="00000500000000000000" pitchFamily="2" charset="0"/>
                  <a:sym typeface="+mn-ea"/>
                </a:rPr>
                <a:t> &amp; </a:t>
              </a:r>
              <a:r>
                <a:rPr lang="en-US" dirty="0">
                  <a:solidFill>
                    <a:schemeClr val="bg1"/>
                  </a:solidFill>
                  <a:latin typeface="Montserrat" panose="00000500000000000000" pitchFamily="2" charset="0"/>
                  <a:sym typeface="+mn-ea"/>
                </a:rPr>
                <a:t>Describe their specific role:</a:t>
              </a:r>
            </a:p>
            <a:p>
              <a:pPr lvl="0" algn="l">
                <a:lnSpc>
                  <a:spcPct val="100000"/>
                </a:lnSpc>
                <a:spcBef>
                  <a:spcPct val="0"/>
                </a:spcBef>
                <a:spcAft>
                  <a:spcPct val="35000"/>
                </a:spcAft>
              </a:pPr>
              <a:r>
                <a:rPr lang="en-US" altLang="en-US" sz="1400" dirty="0">
                  <a:solidFill>
                    <a:schemeClr val="bg1"/>
                  </a:solidFill>
                  <a:latin typeface="Montserrat" panose="00000500000000000000" pitchFamily="2" charset="0"/>
                  <a:cs typeface="+mn-lt"/>
                </a:rPr>
                <a:t>Our team consists of Electronics and Communication Engineering students working on embedded systems, sensors, and power electronics.</a:t>
              </a:r>
            </a:p>
            <a:p>
              <a:pPr algn="l"/>
              <a:r>
                <a:rPr lang="en-US" altLang="en-US" sz="1400" dirty="0">
                  <a:solidFill>
                    <a:schemeClr val="bg1"/>
                  </a:solidFill>
                  <a:latin typeface="Montserrat" panose="00000500000000000000" pitchFamily="2" charset="0"/>
                  <a:cs typeface="+mn-lt"/>
                </a:rPr>
                <a:t>Under faculty mentorship, we design, integrate, and test a low-cost piezoelectric energy harvesting system.</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shadeToTitle="1">
        <a:solidFill>
          <a:schemeClr val="bg1"/>
        </a:solidFill>
        <a:effectLst/>
      </p:bgPr>
    </p:bg>
    <p:spTree>
      <p:nvGrpSpPr>
        <p:cNvPr id="1" name=""/>
        <p:cNvGrpSpPr/>
        <p:nvPr/>
      </p:nvGrpSpPr>
      <p:grpSpPr>
        <a:xfrm>
          <a:off x="0" y="0"/>
          <a:ext cx="0" cy="0"/>
          <a:chOff x="0" y="0"/>
          <a:chExt cx="0" cy="0"/>
        </a:xfrm>
      </p:grpSpPr>
      <p:sp>
        <p:nvSpPr>
          <p:cNvPr id="6" name="Circle: Hollow 5"/>
          <p:cNvSpPr/>
          <p:nvPr/>
        </p:nvSpPr>
        <p:spPr>
          <a:xfrm>
            <a:off x="1171303" y="-1495697"/>
            <a:ext cx="9849394" cy="9849394"/>
          </a:xfrm>
          <a:prstGeom prst="donut">
            <a:avLst>
              <a:gd name="adj" fmla="val 22544"/>
            </a:avLst>
          </a:prstGeom>
          <a:solidFill>
            <a:srgbClr val="F9F9F9"/>
          </a:solidFill>
          <a:ln>
            <a:noFill/>
          </a:ln>
          <a:effectLst>
            <a:outerShdw blurRad="6731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Rectangle 8"/>
          <p:cNvSpPr/>
          <p:nvPr/>
        </p:nvSpPr>
        <p:spPr>
          <a:xfrm>
            <a:off x="3082833" y="2332957"/>
            <a:ext cx="3233533" cy="1746913"/>
          </a:xfrm>
          <a:prstGeom prst="rect">
            <a:avLst/>
          </a:prstGeom>
          <a:noFill/>
          <a:ln w="57150">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 name="Rectangle 9"/>
          <p:cNvSpPr/>
          <p:nvPr/>
        </p:nvSpPr>
        <p:spPr>
          <a:xfrm>
            <a:off x="5553228" y="2552458"/>
            <a:ext cx="1326108" cy="1307910"/>
          </a:xfrm>
          <a:prstGeom prst="rect">
            <a:avLst/>
          </a:prstGeom>
          <a:solidFill>
            <a:schemeClr val="bg1"/>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p:cNvSpPr txBox="1"/>
          <p:nvPr/>
        </p:nvSpPr>
        <p:spPr>
          <a:xfrm>
            <a:off x="3428443" y="2421583"/>
            <a:ext cx="5335115" cy="1446550"/>
          </a:xfrm>
          <a:prstGeom prst="rect">
            <a:avLst/>
          </a:prstGeom>
          <a:noFill/>
        </p:spPr>
        <p:txBody>
          <a:bodyPr wrap="none" rtlCol="0">
            <a:spAutoFit/>
          </a:bodyPr>
          <a:lstStyle/>
          <a:p>
            <a:r>
              <a:rPr lang="en-US" sz="8800" b="1" spc="600" dirty="0">
                <a:solidFill>
                  <a:schemeClr val="tx1">
                    <a:lumMod val="85000"/>
                    <a:lumOff val="15000"/>
                  </a:schemeClr>
                </a:solidFill>
              </a:rPr>
              <a:t>Thank</a:t>
            </a:r>
            <a:r>
              <a:rPr lang="en-US" sz="8800" i="1" spc="600" dirty="0">
                <a:solidFill>
                  <a:srgbClr val="EE2516"/>
                </a:solidFill>
              </a:rPr>
              <a:t>you</a:t>
            </a:r>
            <a:endParaRPr lang="id-ID" sz="8800" i="1" spc="600" dirty="0">
              <a:gradFill>
                <a:gsLst>
                  <a:gs pos="0">
                    <a:schemeClr val="accent1"/>
                  </a:gs>
                  <a:gs pos="100000">
                    <a:schemeClr val="accent4"/>
                  </a:gs>
                </a:gsLst>
                <a:lin ang="2700000" scaled="1"/>
              </a:gra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1033</Words>
  <Application>Microsoft Office PowerPoint</Application>
  <PresentationFormat>Widescreen</PresentationFormat>
  <Paragraphs>166</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Calibri Light</vt:lpstr>
      <vt:lpstr>Montserrat</vt:lpstr>
      <vt:lpstr>Tahoma</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ASUS ROG</dc:creator>
  <cp:lastModifiedBy>Deepika Jagarlamudi</cp:lastModifiedBy>
  <cp:revision>241</cp:revision>
  <dcterms:created xsi:type="dcterms:W3CDTF">2018-08-17T08:14:00Z</dcterms:created>
  <dcterms:modified xsi:type="dcterms:W3CDTF">2026-01-25T14:58:13Z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51803905B8674A57B65A671FA206BC29_13</vt:lpwstr>
  </property>
  <property fmtid="{D5CDD505-2E9C-101B-9397-08002B2CF9AE}" pid="3" name="KSOProductBuildVer">
    <vt:lpwstr>1033-12.2.0.23196</vt:lpwstr>
  </property>
</Properties>
</file>